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48" r:id="rId1"/>
  </p:sldMasterIdLst>
  <p:notesMasterIdLst>
    <p:notesMasterId r:id="rId28"/>
  </p:notesMasterIdLst>
  <p:sldIdLst>
    <p:sldId id="256" r:id="rId2"/>
    <p:sldId id="257" r:id="rId3"/>
    <p:sldId id="259" r:id="rId4"/>
    <p:sldId id="258" r:id="rId5"/>
    <p:sldId id="260" r:id="rId6"/>
    <p:sldId id="261" r:id="rId7"/>
    <p:sldId id="262" r:id="rId8"/>
    <p:sldId id="263" r:id="rId9"/>
    <p:sldId id="264" r:id="rId10"/>
    <p:sldId id="265" r:id="rId11"/>
    <p:sldId id="266" r:id="rId12"/>
    <p:sldId id="267" r:id="rId13"/>
    <p:sldId id="268" r:id="rId14"/>
    <p:sldId id="270" r:id="rId15"/>
    <p:sldId id="271" r:id="rId16"/>
    <p:sldId id="279" r:id="rId17"/>
    <p:sldId id="272" r:id="rId18"/>
    <p:sldId id="280" r:id="rId19"/>
    <p:sldId id="281" r:id="rId20"/>
    <p:sldId id="282" r:id="rId21"/>
    <p:sldId id="273" r:id="rId22"/>
    <p:sldId id="274" r:id="rId23"/>
    <p:sldId id="275" r:id="rId24"/>
    <p:sldId id="276" r:id="rId25"/>
    <p:sldId id="277" r:id="rId26"/>
    <p:sldId id="278" r:id="rId2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3704" autoAdjust="0"/>
    <p:restoredTop sz="86754" autoAdjust="0"/>
  </p:normalViewPr>
  <p:slideViewPr>
    <p:cSldViewPr snapToGrid="0">
      <p:cViewPr>
        <p:scale>
          <a:sx n="75" d="100"/>
          <a:sy n="75" d="100"/>
        </p:scale>
        <p:origin x="1476" y="8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F1F1A8F-9816-4664-B696-45E28E344B0C}" type="datetimeFigureOut">
              <a:rPr lang="en-IN" smtClean="0"/>
              <a:t>12-04-2026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5B274CE-747D-4E3A-A65A-DBCE5336B6EB}" type="slidenum">
              <a:rPr lang="en-IN" smtClean="0"/>
              <a:t>‹#›</a:t>
            </a:fld>
            <a:endParaRPr lang="en-IN"/>
          </a:p>
        </p:txBody>
      </p:sp>
    </p:spTree>
    <p:extLst>
      <p:ext uri="{BB962C8B-B14F-4D97-AF65-F5344CB8AC3E}">
        <p14:creationId xmlns:p14="http://schemas.microsoft.com/office/powerpoint/2010/main" val="10271503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Program synthesis = computer writes code for you automatically </a:t>
            </a:r>
          </a:p>
          <a:p>
            <a:r>
              <a:rPr lang="en-US" dirty="0"/>
              <a:t>Left side: function with holes, right side: completed by computer </a:t>
            </a:r>
          </a:p>
          <a:p>
            <a:r>
              <a:rPr lang="en-US" dirty="0"/>
              <a:t>Arrow: 20 years of research connects them </a:t>
            </a:r>
          </a:p>
          <a:p>
            <a:r>
              <a:rPr lang="en-US" dirty="0"/>
              <a:t>Covering 6 papers today, </a:t>
            </a:r>
            <a:r>
              <a:rPr lang="en-US" dirty="0" err="1"/>
              <a:t>DreamCoder</a:t>
            </a:r>
            <a:r>
              <a:rPr lang="en-US" dirty="0"/>
              <a:t> is the deep dive</a:t>
            </a:r>
          </a:p>
          <a:p>
            <a:endParaRPr lang="en-US" dirty="0"/>
          </a:p>
          <a:p>
            <a:endParaRPr lang="en-US" dirty="0"/>
          </a:p>
          <a:p>
            <a:r>
              <a:rPr lang="en-US" dirty="0"/>
              <a:t>Hi everyone, I'm Vanshika and today I'm talking about program synthesis. If you look at this slide, the left side shows a function with question marks where the hard parts should go. The right side shows the same function but completed automatically by a computer. That arrow in the middle says 20 years of research, and that's literally what this talk is about. How did we go from a computer filling in blanks in 2006 to GitHub Copilot writing entire functions from a sentence in 2021. Let's get into it</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1</a:t>
            </a:fld>
            <a:endParaRPr lang="en-IN"/>
          </a:p>
        </p:txBody>
      </p:sp>
    </p:spTree>
    <p:extLst>
      <p:ext uri="{BB962C8B-B14F-4D97-AF65-F5344CB8AC3E}">
        <p14:creationId xmlns:p14="http://schemas.microsoft.com/office/powerpoint/2010/main" val="220624389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what actually is program synthesis? At its core it's this: you show a computer some examples of what you want, and it automatically figures out the program. </a:t>
            </a:r>
          </a:p>
          <a:p>
            <a:r>
              <a:rPr lang="en-US" dirty="0"/>
              <a:t>Look at the visual here. Someone gives three examples — john smith should become J. Smith, jane doe should become J. Doe, bob jones should become B. Jones. </a:t>
            </a:r>
          </a:p>
          <a:p>
            <a:r>
              <a:rPr lang="en-US" dirty="0"/>
              <a:t>The computer looks at those examples and synthesizes a function that does that transformation. That function at the bottom — the user never wrote that. They just showed examples and the computer figured out the rule. That's program synthesis. Automatically generating a program from a description of what it should do. In this case the description is input-output examples, pairs of inputs and their expected outputs. </a:t>
            </a:r>
          </a:p>
          <a:p>
            <a:r>
              <a:rPr lang="en-US" dirty="0"/>
              <a:t>The description can be examples like this, or natural language, or a formal specification.</a:t>
            </a:r>
          </a:p>
          <a:p>
            <a:r>
              <a:rPr lang="en-US" dirty="0"/>
              <a:t>Now this sounds simple but it's actually really hard and I'll show you why on the next slide.</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2</a:t>
            </a:fld>
            <a:endParaRPr lang="en-IN"/>
          </a:p>
        </p:txBody>
      </p:sp>
    </p:spTree>
    <p:extLst>
      <p:ext uri="{BB962C8B-B14F-4D97-AF65-F5344CB8AC3E}">
        <p14:creationId xmlns:p14="http://schemas.microsoft.com/office/powerpoint/2010/main" val="295858711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why is this hard? Three reasons. </a:t>
            </a:r>
          </a:p>
          <a:p>
            <a:r>
              <a:rPr lang="en-US" dirty="0"/>
              <a:t>First, the search space is enormous. Look at this tree on the left. Even for simple examples like f of 2 equals 4 and f of 3 equals 6, there are infinitely many programs that satisfy those examples. x times 2 works. x plus x works. Some weird polynomial works. The computer has to search through all of these candidates and the space grows exponentially. </a:t>
            </a:r>
          </a:p>
          <a:p>
            <a:endParaRPr lang="en-US" dirty="0"/>
          </a:p>
          <a:p>
            <a:r>
              <a:rPr lang="en-US" dirty="0"/>
              <a:t>Second, user intent is ambiguous. Look at the middle column. Three programs all satisfy the same two examples. Program A gives 20 for input 10. Program B also gives 20. But Program C gives 12. If you only gave f of 2 equals 4 and f of 3 equals 6 as examples, the computer cannot tell which one you wanted. All three are valid. </a:t>
            </a:r>
          </a:p>
          <a:p>
            <a:endParaRPr lang="en-US" dirty="0"/>
          </a:p>
          <a:p>
            <a:r>
              <a:rPr lang="en-US" dirty="0"/>
              <a:t>Third, correctness is hard to guarantee. Classical synthesis on the right gives you a mathematical proof that the program is correct on all possible inputs, not just the ones you tested. But neural methods like Copilot just predict likely code. There's no guarantee it's actually right. It might look correct and still be wrong on some input you didn't think to test. </a:t>
            </a:r>
          </a:p>
          <a:p>
            <a:endParaRPr lang="en-US" dirty="0"/>
          </a:p>
          <a:p>
            <a:r>
              <a:rPr lang="en-US" dirty="0"/>
              <a:t>These three problems are what the whole field is wrestling with and every paper we cover today is trying to solve one of them and This is why it took roughly two decades to go from theory to practice</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3</a:t>
            </a:fld>
            <a:endParaRPr lang="en-IN"/>
          </a:p>
        </p:txBody>
      </p:sp>
    </p:spTree>
    <p:extLst>
      <p:ext uri="{BB962C8B-B14F-4D97-AF65-F5344CB8AC3E}">
        <p14:creationId xmlns:p14="http://schemas.microsoft.com/office/powerpoint/2010/main" val="298323083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Now you might be wondering, why does any of this matter? Why did anyone spend twenty years trying to solve these hard problems? Because look at what came out of it. </a:t>
            </a:r>
          </a:p>
          <a:p>
            <a:endParaRPr lang="en-US" dirty="0"/>
          </a:p>
          <a:p>
            <a:r>
              <a:rPr lang="en-US" dirty="0"/>
              <a:t>On the left is Excel </a:t>
            </a:r>
            <a:r>
              <a:rPr lang="en-US" dirty="0" err="1"/>
              <a:t>FlashFill</a:t>
            </a:r>
            <a:r>
              <a:rPr lang="en-US" dirty="0"/>
              <a:t>. When you type a couple of examples in Excel and it automatically fills in the rest of the column, that is a synthesis system. It is literally built on one of the papers we are covering today, </a:t>
            </a:r>
            <a:r>
              <a:rPr lang="en-US" dirty="0" err="1"/>
              <a:t>Gulwani's</a:t>
            </a:r>
            <a:r>
              <a:rPr lang="en-US" dirty="0"/>
              <a:t> 2011 paper. It ships to over a billion Office users. </a:t>
            </a:r>
          </a:p>
          <a:p>
            <a:endParaRPr lang="en-US" dirty="0"/>
          </a:p>
          <a:p>
            <a:r>
              <a:rPr lang="en-US" dirty="0"/>
              <a:t>On the right is GitHub Copilot. When a developer types a comment saying what they want and Copilot suggests the code, that is a language model doing synthesis. Also built directly on a paper we are covering today, the Codex paper from 2021. Over a million developers use it daily. </a:t>
            </a:r>
          </a:p>
          <a:p>
            <a:endParaRPr lang="en-US" dirty="0"/>
          </a:p>
          <a:p>
            <a:r>
              <a:rPr lang="en-US" dirty="0"/>
              <a:t>Program synthesis is not just a research idea. It is already running on your laptop, in tools you probably use. The papers I’ll be covering today are the reason those tools exist. That is why this matters.</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4</a:t>
            </a:fld>
            <a:endParaRPr lang="en-IN"/>
          </a:p>
        </p:txBody>
      </p:sp>
    </p:spTree>
    <p:extLst>
      <p:ext uri="{BB962C8B-B14F-4D97-AF65-F5344CB8AC3E}">
        <p14:creationId xmlns:p14="http://schemas.microsoft.com/office/powerpoint/2010/main" val="289393819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Alright so here's the plan for today. We've got six papers, all in chronological order from 2006 to 2024, and each one builds directly on what came before it. </a:t>
            </a:r>
          </a:p>
          <a:p>
            <a:endParaRPr lang="en-US" dirty="0"/>
          </a:p>
          <a:p>
            <a:r>
              <a:rPr lang="en-US" dirty="0"/>
              <a:t>I’ll start with SKETCH in 2006, then </a:t>
            </a:r>
            <a:r>
              <a:rPr lang="en-US" dirty="0" err="1"/>
              <a:t>FlashFill</a:t>
            </a:r>
            <a:r>
              <a:rPr lang="en-US" dirty="0"/>
              <a:t> in 2011, a survey in 2017 that mapped the entire field, then two papers from 2021 that pulled in completely different directions, and finally LILO in 2024 which tries to bring everything together. </a:t>
            </a:r>
          </a:p>
          <a:p>
            <a:endParaRPr lang="en-US" dirty="0"/>
          </a:p>
          <a:p>
            <a:r>
              <a:rPr lang="en-US" dirty="0"/>
              <a:t>One thing to flag — I’ll be covering </a:t>
            </a:r>
            <a:r>
              <a:rPr lang="en-US" dirty="0" err="1"/>
              <a:t>DreamCoder</a:t>
            </a:r>
            <a:r>
              <a:rPr lang="en-US" dirty="0"/>
              <a:t> in depth so will spend significantly more time there. </a:t>
            </a:r>
          </a:p>
          <a:p>
            <a:endParaRPr lang="en-US" dirty="0"/>
          </a:p>
          <a:p>
            <a:r>
              <a:rPr lang="en-US" dirty="0"/>
              <a:t>By the end of this talk you'll see exactly how we got from a research idea in 2006 to GitHub Copilot in your code editor today. </a:t>
            </a:r>
          </a:p>
          <a:p>
            <a:endParaRPr lang="en-US" dirty="0"/>
          </a:p>
          <a:p>
            <a:r>
              <a:rPr lang="en-US" dirty="0"/>
              <a:t>Let's start with the paper that started it all</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5</a:t>
            </a:fld>
            <a:endParaRPr lang="en-IN"/>
          </a:p>
        </p:txBody>
      </p:sp>
    </p:spTree>
    <p:extLst>
      <p:ext uri="{BB962C8B-B14F-4D97-AF65-F5344CB8AC3E}">
        <p14:creationId xmlns:p14="http://schemas.microsoft.com/office/powerpoint/2010/main" val="123665444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SKETCH was published at ASPLOS 2006 by Solar-Lezama and colleagues. </a:t>
            </a:r>
          </a:p>
          <a:p>
            <a:endParaRPr lang="en-US" dirty="0"/>
          </a:p>
          <a:p>
            <a:r>
              <a:rPr lang="en-US" dirty="0"/>
              <a:t>Before SKETCH every synthesis tool needed hand-coded domain-specific rules. Like if you wanted a tool that synthesizes string programs you'd have to manually program all the rules about strings. If you wanted a tool for math programs you'd have to manually program all the rules about math. Every new domain meant building everything from scratch. </a:t>
            </a:r>
            <a:r>
              <a:rPr lang="en-IN" dirty="0"/>
              <a:t>Nothing transferred</a:t>
            </a:r>
            <a:r>
              <a:rPr lang="en-US" dirty="0"/>
              <a:t> </a:t>
            </a:r>
          </a:p>
          <a:p>
            <a:endParaRPr lang="en-US" dirty="0"/>
          </a:p>
          <a:p>
            <a:r>
              <a:rPr lang="en-US" dirty="0"/>
              <a:t>SKETCH changed this completely. The idea is simple: the programmer writes a partial program with holes where the hard parts go, and a SAT solver fills those holes in. A SAT solver, by the way, is just a program that solves logical equations — you give it constraints and it finds values that satisfy them. </a:t>
            </a:r>
          </a:p>
          <a:p>
            <a:endParaRPr lang="en-US" dirty="0"/>
          </a:p>
          <a:p>
            <a:r>
              <a:rPr lang="en-US" dirty="0"/>
              <a:t>The diagram on the right shows the key mechanism SKETCH introduced called CEGIS, which stands for Counterexample Guided Inductive Synthesis. Here's how it works: the synthesizer proposes a candidate program to fill the holes. The verifier tests it against the specification. If the candidate is wrong, the verifier produces a counterexample — a specific input where it failed. That counterexample goes back to the synthesizer to rule out similar wrong answers next time. This loop repeats until a correct program is found. </a:t>
            </a:r>
          </a:p>
          <a:p>
            <a:endParaRPr lang="en-US" dirty="0"/>
          </a:p>
          <a:p>
            <a:r>
              <a:rPr lang="en-US" dirty="0"/>
              <a:t>The really important thing about SKETCH is that any program it produces is provably correct, not just probably correct. That correctness guarantee is what separates it from everything before it.</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6</a:t>
            </a:fld>
            <a:endParaRPr lang="en-IN"/>
          </a:p>
        </p:txBody>
      </p:sp>
    </p:spTree>
    <p:extLst>
      <p:ext uri="{BB962C8B-B14F-4D97-AF65-F5344CB8AC3E}">
        <p14:creationId xmlns:p14="http://schemas.microsoft.com/office/powerpoint/2010/main" val="2132653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was SKETCH evaluated? The main result is AES, the encryption algorithm that secures basically every website and app you use. SKETCH synthesized a complete AES implementation and if you look at the numbers — SKETCH ran in 21.3 milliseconds, hand-optimized OpenSSL ran in 19.6 milliseconds. To give you a sense of how impressive that is — OpenSSL is written by expert cryptographers who spend years optimizing it. Less than 10% difference. The original specification ran in 19936 milliseconds, over 1000 times slower. So SKETCH was competitive with expert-optimized code, automatically. </a:t>
            </a:r>
          </a:p>
          <a:p>
            <a:endParaRPr lang="en-US" dirty="0"/>
          </a:p>
          <a:p>
            <a:endParaRPr lang="en-US" dirty="0"/>
          </a:p>
          <a:p>
            <a:pPr marL="171450" indent="-171450">
              <a:buFont typeface="Arial" panose="020B0604020202020204" pitchFamily="34" charset="0"/>
              <a:buChar char="•"/>
            </a:pPr>
            <a:r>
              <a:rPr lang="en-US" dirty="0"/>
              <a:t>Now the limitations. The programmer still has to write a meaningful sketch, so you need to understand the algorithm well enough to write the structure. That limits who can actually use it. </a:t>
            </a:r>
          </a:p>
          <a:p>
            <a:pPr marL="171450" indent="-171450">
              <a:buFont typeface="Arial" panose="020B0604020202020204" pitchFamily="34" charset="0"/>
              <a:buChar char="•"/>
            </a:pPr>
            <a:r>
              <a:rPr lang="en-US" dirty="0"/>
              <a:t>It also only works for finite programs, anything with unbounded loops is out of scope. </a:t>
            </a:r>
          </a:p>
          <a:p>
            <a:pPr marL="171450" indent="-171450">
              <a:buFont typeface="Arial" panose="020B0604020202020204" pitchFamily="34" charset="0"/>
              <a:buChar char="•"/>
            </a:pPr>
            <a:r>
              <a:rPr lang="en-US" dirty="0"/>
              <a:t>And synthesis time grows with the number and complexity of holes. That one line with the question marks took 655 CEGIS iterations to fill in. </a:t>
            </a:r>
          </a:p>
          <a:p>
            <a:endParaRPr lang="en-US" dirty="0"/>
          </a:p>
          <a:p>
            <a:r>
              <a:rPr lang="en-US" dirty="0"/>
              <a:t>SKETCH proved correctness-guaranteed synthesis was possible at realistic scale. But the next question was: can synthesis work without any sketch at all? Just give examples and get a program back. That's exactly what </a:t>
            </a:r>
            <a:r>
              <a:rPr lang="en-US" dirty="0" err="1"/>
              <a:t>FlashFill</a:t>
            </a:r>
            <a:r>
              <a:rPr lang="en-US" dirty="0"/>
              <a:t> answered</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7</a:t>
            </a:fld>
            <a:endParaRPr lang="en-IN"/>
          </a:p>
        </p:txBody>
      </p:sp>
    </p:spTree>
    <p:extLst>
      <p:ext uri="{BB962C8B-B14F-4D97-AF65-F5344CB8AC3E}">
        <p14:creationId xmlns:p14="http://schemas.microsoft.com/office/powerpoint/2010/main" val="52185105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FlashFill</a:t>
            </a:r>
            <a:r>
              <a:rPr lang="en-US" dirty="0"/>
              <a:t> was published at POPL 2011 by </a:t>
            </a:r>
            <a:r>
              <a:rPr lang="en-US" dirty="0" err="1"/>
              <a:t>Gulwani</a:t>
            </a:r>
            <a:r>
              <a:rPr lang="en-US" dirty="0"/>
              <a:t> and it's probably the most famous paper in program synthesis. </a:t>
            </a:r>
          </a:p>
          <a:p>
            <a:endParaRPr lang="en-US" dirty="0"/>
          </a:p>
          <a:p>
            <a:r>
              <a:rPr lang="en-US" dirty="0"/>
              <a:t>The problem is simple — non-programmers in Excel constantly need to reformat columns, splitting names, extracting dates, and most people find formulas too hard. </a:t>
            </a:r>
            <a:r>
              <a:rPr lang="en-US" dirty="0" err="1"/>
              <a:t>FlashFill</a:t>
            </a:r>
            <a:r>
              <a:rPr lang="en-US" dirty="0"/>
              <a:t> lets you type a couple of examples and synthesizes the transformation automatically. </a:t>
            </a:r>
          </a:p>
          <a:p>
            <a:endParaRPr lang="en-US" dirty="0"/>
          </a:p>
          <a:p>
            <a:r>
              <a:rPr lang="en-US" dirty="0"/>
              <a:t>The solution has two key parts. First a DSL (domain specific language), which is just a small restricted programming language designed specifically for strings — that restriction keeps the search space manageable. Second, version space algebras, which instead of trying programs one by one, represent all programs consistent with your examples simultaneously as one compact structure and find the best one in under a second. </a:t>
            </a:r>
          </a:p>
          <a:p>
            <a:endParaRPr lang="en-US" dirty="0"/>
          </a:p>
          <a:p>
            <a:r>
              <a:rPr lang="en-US" dirty="0"/>
              <a:t>The screenshot on the right is </a:t>
            </a:r>
            <a:r>
              <a:rPr lang="en-US" dirty="0" err="1"/>
              <a:t>FlashFill</a:t>
            </a:r>
            <a:r>
              <a:rPr lang="en-US" dirty="0"/>
              <a:t> actually running in Excel right now. 175 benchmarks, 74% correct from a single example, under one second every time. Shipped in Excel 2013 with hundreds of millions of users, most influential POPL paper award in 2021. </a:t>
            </a:r>
          </a:p>
          <a:p>
            <a:endParaRPr lang="en-US" dirty="0"/>
          </a:p>
          <a:p>
            <a:r>
              <a:rPr lang="en-US" dirty="0"/>
              <a:t>The limitation is it only works for strings, and ambiguous examples can silently produce the wrong program with no warning. </a:t>
            </a:r>
          </a:p>
          <a:p>
            <a:endParaRPr lang="en-US" dirty="0"/>
          </a:p>
          <a:p>
            <a:r>
              <a:rPr lang="en-US" dirty="0"/>
              <a:t>But it proved synthesis could reach real users but only in one narrow domain. </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8</a:t>
            </a:fld>
            <a:endParaRPr lang="en-IN"/>
          </a:p>
        </p:txBody>
      </p:sp>
    </p:spTree>
    <p:extLst>
      <p:ext uri="{BB962C8B-B14F-4D97-AF65-F5344CB8AC3E}">
        <p14:creationId xmlns:p14="http://schemas.microsoft.com/office/powerpoint/2010/main" val="17370691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By 2017 synthesis research had exploded but in a messy way. People in programming languages, machine learning, and HCI were all working on synthesis problems but using different terminology and largely unaware of each other. </a:t>
            </a:r>
          </a:p>
          <a:p>
            <a:endParaRPr lang="en-US" dirty="0"/>
          </a:p>
          <a:p>
            <a:r>
              <a:rPr lang="en-US" dirty="0"/>
              <a:t>So the authors of this paper wrote this survey to give the field a shared vocabulary. They organized everything around three questions. How does the user express what they want — that's intent, could be examples like </a:t>
            </a:r>
            <a:r>
              <a:rPr lang="en-US" dirty="0" err="1"/>
              <a:t>FlashFill</a:t>
            </a:r>
            <a:r>
              <a:rPr lang="en-US" dirty="0"/>
              <a:t>, partial programs like SKETCH, or natural language. What is the space of programs being searched — that's the program space. And how does the system search through it — that's the search strategy, which includes things like enumerative search which just tries programs one by one from smallest to largest, constraint solving like the SAT solver in SKETCH, or neural prediction. </a:t>
            </a:r>
          </a:p>
          <a:p>
            <a:endParaRPr lang="en-US" dirty="0"/>
          </a:p>
          <a:p>
            <a:r>
              <a:rPr lang="en-US" dirty="0"/>
              <a:t>The table on the right summarizes it. Every synthesis system ever built fits somewhere in this framework. It covers everything from Manna and Waldinger's work in the 1970s through early neural methods. </a:t>
            </a:r>
          </a:p>
          <a:p>
            <a:endParaRPr lang="en-US" dirty="0"/>
          </a:p>
          <a:p>
            <a:r>
              <a:rPr lang="en-US" dirty="0"/>
              <a:t>The limitation is timing — it was written just as neural methods were getting serious so that coverage is thin. </a:t>
            </a:r>
          </a:p>
          <a:p>
            <a:endParaRPr lang="en-US" dirty="0"/>
          </a:p>
          <a:p>
            <a:r>
              <a:rPr lang="en-US" dirty="0"/>
              <a:t>But the authors explicitly flag combining neural and symbolic methods as the major open direction. </a:t>
            </a:r>
            <a:r>
              <a:rPr lang="en-US" dirty="0" err="1"/>
              <a:t>DreamCoder</a:t>
            </a:r>
            <a:r>
              <a:rPr lang="en-US" dirty="0"/>
              <a:t> and LILO are direct responses to exactly that.</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9</a:t>
            </a:fld>
            <a:endParaRPr lang="en-IN"/>
          </a:p>
        </p:txBody>
      </p:sp>
    </p:spTree>
    <p:extLst>
      <p:ext uri="{BB962C8B-B14F-4D97-AF65-F5344CB8AC3E}">
        <p14:creationId xmlns:p14="http://schemas.microsoft.com/office/powerpoint/2010/main" val="161975187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err="1"/>
              <a:t>DreamCoder</a:t>
            </a:r>
            <a:r>
              <a:rPr lang="en-US" dirty="0"/>
              <a:t> was published at PLDI 2021 by Ellis and colleagues at MIT. </a:t>
            </a:r>
          </a:p>
          <a:p>
            <a:endParaRPr lang="en-US" dirty="0"/>
          </a:p>
          <a:p>
            <a:r>
              <a:rPr lang="en-US" dirty="0"/>
              <a:t>Think about how a programmer gets better over time. You start by solving every problem from scratch but after years of experience you build up patterns and functions you can reuse. </a:t>
            </a:r>
          </a:p>
          <a:p>
            <a:endParaRPr lang="en-US" dirty="0"/>
          </a:p>
          <a:p>
            <a:pPr marL="171450" indent="-171450">
              <a:buFont typeface="Arial" panose="020B0604020202020204" pitchFamily="34" charset="0"/>
              <a:buChar char="•"/>
            </a:pPr>
            <a:r>
              <a:rPr lang="en-US" dirty="0"/>
              <a:t>Classical synthesis systems have none of that. SKETCH starts from scratch every time. </a:t>
            </a:r>
            <a:r>
              <a:rPr lang="en-US" dirty="0" err="1"/>
              <a:t>FlashFill</a:t>
            </a:r>
            <a:r>
              <a:rPr lang="en-US" dirty="0"/>
              <a:t> starts from scratch every time. They don't get better. </a:t>
            </a:r>
          </a:p>
          <a:p>
            <a:pPr marL="171450" indent="-171450">
              <a:buFont typeface="Arial" panose="020B0604020202020204" pitchFamily="34" charset="0"/>
              <a:buChar char="•"/>
            </a:pPr>
            <a:r>
              <a:rPr lang="en-US" dirty="0"/>
              <a:t>Neural systems can generalize across tasks but give no correctness guarantees. </a:t>
            </a:r>
          </a:p>
          <a:p>
            <a:endParaRPr lang="en-US" dirty="0"/>
          </a:p>
          <a:p>
            <a:r>
              <a:rPr lang="en-US" dirty="0" err="1"/>
              <a:t>DreamCoder</a:t>
            </a:r>
            <a:r>
              <a:rPr lang="en-US" dirty="0"/>
              <a:t> asks whether a synthesis system can actually accumulate expertise the way a programmer does. </a:t>
            </a:r>
          </a:p>
          <a:p>
            <a:r>
              <a:rPr lang="en-US" dirty="0"/>
              <a:t>The answer is library learning — instead of searching from scratch each time, the system builds up a library of reusable abstractions alongside a neural policy that guides search, and both get better together over time. </a:t>
            </a:r>
          </a:p>
          <a:p>
            <a:endParaRPr lang="en-US" dirty="0"/>
          </a:p>
          <a:p>
            <a:r>
              <a:rPr lang="en-US" dirty="0"/>
              <a:t>The mechanism is a wake-sleep algorithm, and I'm going to walk through exactly how that works on the next slide.</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10</a:t>
            </a:fld>
            <a:endParaRPr lang="en-IN"/>
          </a:p>
        </p:txBody>
      </p:sp>
    </p:spTree>
    <p:extLst>
      <p:ext uri="{BB962C8B-B14F-4D97-AF65-F5344CB8AC3E}">
        <p14:creationId xmlns:p14="http://schemas.microsoft.com/office/powerpoint/2010/main" val="226975304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how does </a:t>
            </a:r>
            <a:r>
              <a:rPr lang="en-US" dirty="0" err="1"/>
              <a:t>DreamCoder</a:t>
            </a:r>
            <a:r>
              <a:rPr lang="en-US" dirty="0"/>
              <a:t> actually work? The algorithm has two phases that alternate. </a:t>
            </a:r>
          </a:p>
          <a:p>
            <a:endParaRPr lang="en-US" dirty="0"/>
          </a:p>
          <a:p>
            <a:r>
              <a:rPr lang="en-US" dirty="0"/>
              <a:t>During the wake phase — that's the top box in the diagram — the system takes a batch of synthesis tasks and searches for programs using </a:t>
            </a:r>
            <a:r>
              <a:rPr lang="en-US" dirty="0" err="1"/>
              <a:t>neurally</a:t>
            </a:r>
            <a:r>
              <a:rPr lang="en-US" dirty="0"/>
              <a:t>-guided enumerative search. Enumerative search means trying programs one by one, but instead of random order a recognition network scores candidates and prioritizes the more promising ones. So it's smarter than brute force. </a:t>
            </a:r>
          </a:p>
          <a:p>
            <a:endParaRPr lang="en-US" dirty="0"/>
          </a:p>
          <a:p>
            <a:r>
              <a:rPr lang="en-US" dirty="0"/>
              <a:t>Then during the sleep phase the system reflects on what it just learned. The bottom left box is sleep abstraction — it takes all the programs it just found, runs a compression algorithm to find shared patterns across them, and adds those patterns to the library as named functions. The bottom right box is sleep dreaming — it retrains the neural policy on the updated library. </a:t>
            </a:r>
          </a:p>
          <a:p>
            <a:endParaRPr lang="en-US" dirty="0"/>
          </a:p>
          <a:p>
            <a:r>
              <a:rPr lang="en-US" dirty="0"/>
              <a:t>The key insight is that the next iteration starts from a richer library and a smarter guide. The system compounds its knowledge over time. Starting from nothing but basic recursion, after enough iterations </a:t>
            </a:r>
            <a:r>
              <a:rPr lang="en-US" dirty="0" err="1"/>
              <a:t>DreamCoder</a:t>
            </a:r>
            <a:r>
              <a:rPr lang="en-US" dirty="0"/>
              <a:t> rediscovered higher-order functions like map, filter, and fold entirely on its own. It never knew what map was. It induced the concept from patterns across programs. So this is a qualitatively different kind of result.</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11</a:t>
            </a:fld>
            <a:endParaRPr lang="en-IN"/>
          </a:p>
        </p:txBody>
      </p:sp>
    </p:spTree>
    <p:extLst>
      <p:ext uri="{BB962C8B-B14F-4D97-AF65-F5344CB8AC3E}">
        <p14:creationId xmlns:p14="http://schemas.microsoft.com/office/powerpoint/2010/main" val="23160563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 are the results. </a:t>
            </a:r>
          </a:p>
          <a:p>
            <a:endParaRPr lang="en-US" dirty="0"/>
          </a:p>
          <a:p>
            <a:r>
              <a:rPr lang="en-US" dirty="0"/>
              <a:t>Look at the diagram on the left — two different programs go through the sleep phase, the system finds they share a common pattern, and MAP just pops out as a new primitive. The system literally invented map on its own. Nobody told it what map was. </a:t>
            </a:r>
          </a:p>
          <a:p>
            <a:endParaRPr lang="en-US" dirty="0"/>
          </a:p>
          <a:p>
            <a:r>
              <a:rPr lang="en-US" dirty="0"/>
              <a:t>The table on the right backs this up — with the full library, the system produces clean readable patterns, without it, things get messy. </a:t>
            </a:r>
          </a:p>
          <a:p>
            <a:endParaRPr lang="en-US" dirty="0"/>
          </a:p>
          <a:p>
            <a:r>
              <a:rPr lang="en-US" dirty="0"/>
              <a:t>Now the three big results. </a:t>
            </a:r>
          </a:p>
          <a:p>
            <a:r>
              <a:rPr lang="en-US" dirty="0"/>
              <a:t>Starting from basic recursion </a:t>
            </a:r>
            <a:r>
              <a:rPr lang="en-US" dirty="0" err="1"/>
              <a:t>DreamCoder</a:t>
            </a:r>
            <a:r>
              <a:rPr lang="en-US" dirty="0"/>
              <a:t> rediscovered map, filter, and fold on its own. Starting from basic arithmetic it discovered Newton's and Coulomb's laws from physics data. And it beat every baseline across all eight domains the authors specified. </a:t>
            </a:r>
          </a:p>
          <a:p>
            <a:endParaRPr lang="en-US" dirty="0"/>
          </a:p>
          <a:p>
            <a:r>
              <a:rPr lang="en-US" dirty="0"/>
              <a:t>This is not just better numbers on a benchmark. The system is genuinely learning structure that humans invented over decades.</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12</a:t>
            </a:fld>
            <a:endParaRPr lang="en-IN"/>
          </a:p>
        </p:txBody>
      </p:sp>
    </p:spTree>
    <p:extLst>
      <p:ext uri="{BB962C8B-B14F-4D97-AF65-F5344CB8AC3E}">
        <p14:creationId xmlns:p14="http://schemas.microsoft.com/office/powerpoint/2010/main" val="50343721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a:t>
            </a:r>
            <a:r>
              <a:rPr lang="en-US" dirty="0" err="1"/>
              <a:t>DreamCoder</a:t>
            </a:r>
            <a:r>
              <a:rPr lang="en-US" dirty="0"/>
              <a:t> is great but it has some real problems. </a:t>
            </a:r>
          </a:p>
          <a:p>
            <a:endParaRPr lang="en-US" dirty="0"/>
          </a:p>
          <a:p>
            <a:r>
              <a:rPr lang="en-US" dirty="0"/>
              <a:t>Even with the neural network guiding the search you're still trying programs one by one across eight domains over many iterations and that gets really expensive computationally. </a:t>
            </a:r>
          </a:p>
          <a:p>
            <a:endParaRPr lang="en-US" dirty="0"/>
          </a:p>
          <a:p>
            <a:r>
              <a:rPr lang="en-US" dirty="0"/>
              <a:t>It also needs a lot of training tasks before it starts finding useful patterns — if you only give it a few examples there's not enough to learn from.</a:t>
            </a:r>
          </a:p>
          <a:p>
            <a:endParaRPr lang="en-US" dirty="0"/>
          </a:p>
          <a:p>
            <a:r>
              <a:rPr lang="en-US" dirty="0"/>
              <a:t>And if the tasks you train on look different from the tasks you test on, the library it learned isn't really useful anymore.</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13</a:t>
            </a:fld>
            <a:endParaRPr lang="en-IN"/>
          </a:p>
        </p:txBody>
      </p:sp>
    </p:spTree>
    <p:extLst>
      <p:ext uri="{BB962C8B-B14F-4D97-AF65-F5344CB8AC3E}">
        <p14:creationId xmlns:p14="http://schemas.microsoft.com/office/powerpoint/2010/main" val="404568155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was published by Chen et al. at OpenAI in 2021. </a:t>
            </a:r>
          </a:p>
          <a:p>
            <a:endParaRPr lang="en-US" dirty="0"/>
          </a:p>
          <a:p>
            <a:r>
              <a:rPr lang="en-US" dirty="0"/>
              <a:t>The question driving it is— do you even need any of the classical synthesis machinery if your model is big enough? </a:t>
            </a:r>
          </a:p>
          <a:p>
            <a:endParaRPr lang="en-US" dirty="0"/>
          </a:p>
          <a:p>
            <a:r>
              <a:rPr lang="en-US" dirty="0"/>
              <a:t>Codex is basically GPT-3, which is a large language model fine-tuned on publicly available GitHub code. You give it a function description or a docstring and it predicts the code that probably comes next. No search, no DSL, nothing classical at all. </a:t>
            </a:r>
          </a:p>
          <a:p>
            <a:endParaRPr lang="en-US" dirty="0"/>
          </a:p>
          <a:p>
            <a:r>
              <a:rPr lang="en-US" dirty="0"/>
              <a:t>If you look at the figure, the white background is the prompt the user gave and the yellow line is what Codex generated. </a:t>
            </a:r>
          </a:p>
          <a:p>
            <a:r>
              <a:rPr lang="en-US" dirty="0"/>
              <a:t>In the example — user wrote that </a:t>
            </a:r>
            <a:r>
              <a:rPr lang="en-US" dirty="0" err="1"/>
              <a:t>incr_list</a:t>
            </a:r>
            <a:r>
              <a:rPr lang="en-US" dirty="0"/>
              <a:t> should return a list with elements incremented by 1, Codex generated the correct one-liner. </a:t>
            </a:r>
          </a:p>
          <a:p>
            <a:endParaRPr lang="en-US" dirty="0"/>
          </a:p>
          <a:p>
            <a:r>
              <a:rPr lang="en-US" dirty="0"/>
              <a:t>This became GitHub Copilot.</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14</a:t>
            </a:fld>
            <a:endParaRPr lang="en-IN"/>
          </a:p>
        </p:txBody>
      </p:sp>
    </p:spTree>
    <p:extLst>
      <p:ext uri="{BB962C8B-B14F-4D97-AF65-F5344CB8AC3E}">
        <p14:creationId xmlns:p14="http://schemas.microsoft.com/office/powerpoint/2010/main" val="165130963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test it, they made a benchmark called </a:t>
            </a:r>
            <a:r>
              <a:rPr lang="en-US" dirty="0" err="1"/>
              <a:t>HumanEval</a:t>
            </a:r>
            <a:r>
              <a:rPr lang="en-US" dirty="0"/>
              <a:t> in which there were 164 Python problems each with unit tests. The metric is </a:t>
            </a:r>
            <a:r>
              <a:rPr lang="en-US" dirty="0" err="1"/>
              <a:t>pass@k</a:t>
            </a:r>
            <a:r>
              <a:rPr lang="en-US" dirty="0"/>
              <a:t> which just means how many problems does it get right if you give it k tries. Codex got 28.8% correct on the first try and 70.2% when you let it generate 100 options and pick the best. The graph shows the bigger the model the better it does, and GPT-3 with no code training is basically zero. </a:t>
            </a:r>
          </a:p>
          <a:p>
            <a:endParaRPr lang="en-US" dirty="0"/>
          </a:p>
          <a:p>
            <a:r>
              <a:rPr lang="en-US" dirty="0"/>
              <a:t>If we talk about limitations, Codex is just predicting what code probably comes next. That's completely different from actually proving a program is correct. </a:t>
            </a:r>
          </a:p>
          <a:p>
            <a:r>
              <a:rPr lang="en-US" dirty="0"/>
              <a:t>It produces code that looks right and passes your examples but can silently fail on inputs you didn't test. There's no way for it to know when it's wrong. </a:t>
            </a:r>
          </a:p>
          <a:p>
            <a:r>
              <a:rPr lang="en-US" dirty="0"/>
              <a:t>And you can't fix this by making the model bigger, it's just a fundamental mismatch between what language models do and what synthesis actually requires. </a:t>
            </a:r>
          </a:p>
          <a:p>
            <a:endParaRPr lang="en-US" dirty="0"/>
          </a:p>
          <a:p>
            <a:r>
              <a:rPr lang="en-US" dirty="0"/>
              <a:t>LILO tries to fix exactly that</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15</a:t>
            </a:fld>
            <a:endParaRPr lang="en-IN"/>
          </a:p>
        </p:txBody>
      </p:sp>
    </p:spTree>
    <p:extLst>
      <p:ext uri="{BB962C8B-B14F-4D97-AF65-F5344CB8AC3E}">
        <p14:creationId xmlns:p14="http://schemas.microsoft.com/office/powerpoint/2010/main" val="325878253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9C0D61-2EE0-245E-2840-95A872DBB01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56926B4-3A64-7166-777D-259D87AD00A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D4D5273-CFBB-4149-D4BB-9B166ED46232}"/>
              </a:ext>
            </a:extLst>
          </p:cNvPr>
          <p:cNvSpPr>
            <a:spLocks noGrp="1"/>
          </p:cNvSpPr>
          <p:nvPr>
            <p:ph type="body" idx="1"/>
          </p:nvPr>
        </p:nvSpPr>
        <p:spPr/>
        <p:txBody>
          <a:bodyPr/>
          <a:lstStyle/>
          <a:p>
            <a:r>
              <a:rPr lang="en-US" dirty="0"/>
              <a:t>LILO was published by Grand et al. at ICLR 2024 and it basically tries to fix everything we just talked about. </a:t>
            </a:r>
          </a:p>
          <a:p>
            <a:endParaRPr lang="en-US" dirty="0"/>
          </a:p>
          <a:p>
            <a:r>
              <a:rPr lang="en-US" dirty="0" err="1"/>
              <a:t>DreamCoder</a:t>
            </a:r>
            <a:r>
              <a:rPr lang="en-US" dirty="0"/>
              <a:t> was powerful but enumerative search was slow. </a:t>
            </a:r>
          </a:p>
          <a:p>
            <a:r>
              <a:rPr lang="en-US" dirty="0"/>
              <a:t>Codex was fast but no correctness guarantees and no accumulated knowledge. </a:t>
            </a:r>
          </a:p>
          <a:p>
            <a:endParaRPr lang="en-US" dirty="0"/>
          </a:p>
          <a:p>
            <a:r>
              <a:rPr lang="en-US" dirty="0"/>
              <a:t>LILO takes </a:t>
            </a:r>
            <a:r>
              <a:rPr lang="en-US" dirty="0" err="1"/>
              <a:t>DreamCoder's</a:t>
            </a:r>
            <a:r>
              <a:rPr lang="en-US" dirty="0"/>
              <a:t> wake-sleep framework and makes one key change — instead of enumerating programs one by one in the wake phase, the LLM generates candidates directly. Way faster. The sleep phase stays exactly the same as </a:t>
            </a:r>
            <a:r>
              <a:rPr lang="en-US" dirty="0" err="1"/>
              <a:t>DreamCoder</a:t>
            </a:r>
            <a:r>
              <a:rPr lang="en-US" dirty="0"/>
              <a:t> with same compression, same library learning. </a:t>
            </a:r>
          </a:p>
          <a:p>
            <a:endParaRPr lang="en-US" dirty="0"/>
          </a:p>
          <a:p>
            <a:r>
              <a:rPr lang="en-US" dirty="0"/>
              <a:t>If you look at the diagram, section A is the LLM generating candidates from natural language descriptions, section B is Stitch which is the compression algorithm finding shared patterns, section C is </a:t>
            </a:r>
            <a:r>
              <a:rPr lang="en-US" dirty="0" err="1"/>
              <a:t>AutoDoc</a:t>
            </a:r>
            <a:r>
              <a:rPr lang="en-US" dirty="0"/>
              <a:t> which generates readable names for discovered functions, and section D shows the simplified programs that come out. </a:t>
            </a:r>
          </a:p>
          <a:p>
            <a:endParaRPr lang="en-US" dirty="0"/>
          </a:p>
          <a:p>
            <a:r>
              <a:rPr lang="en-US" dirty="0"/>
              <a:t>The genuinely new contribution is that auto-documentation piece and I'll show you exactly why it matters on the next slide</a:t>
            </a:r>
            <a:endParaRPr lang="en-IN" dirty="0"/>
          </a:p>
        </p:txBody>
      </p:sp>
      <p:sp>
        <p:nvSpPr>
          <p:cNvPr id="4" name="Slide Number Placeholder 3">
            <a:extLst>
              <a:ext uri="{FF2B5EF4-FFF2-40B4-BE49-F238E27FC236}">
                <a16:creationId xmlns:a16="http://schemas.microsoft.com/office/drawing/2014/main" id="{E6582DD1-2BA8-880D-01E5-7347C53BE003}"/>
              </a:ext>
            </a:extLst>
          </p:cNvPr>
          <p:cNvSpPr>
            <a:spLocks noGrp="1"/>
          </p:cNvSpPr>
          <p:nvPr>
            <p:ph type="sldNum" sz="quarter" idx="5"/>
          </p:nvPr>
        </p:nvSpPr>
        <p:spPr/>
        <p:txBody>
          <a:bodyPr/>
          <a:lstStyle/>
          <a:p>
            <a:fld id="{F5B274CE-747D-4E3A-A65A-DBCE5336B6EB}" type="slidenum">
              <a:rPr lang="en-IN" smtClean="0"/>
              <a:t>16</a:t>
            </a:fld>
            <a:endParaRPr lang="en-IN"/>
          </a:p>
        </p:txBody>
      </p:sp>
    </p:spTree>
    <p:extLst>
      <p:ext uri="{BB962C8B-B14F-4D97-AF65-F5344CB8AC3E}">
        <p14:creationId xmlns:p14="http://schemas.microsoft.com/office/powerpoint/2010/main" val="206308372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LILO was published by Grand et al. at ICLR 2024 and it basically tries to fix everything we just talked about. </a:t>
            </a:r>
          </a:p>
          <a:p>
            <a:endParaRPr lang="en-US" dirty="0"/>
          </a:p>
          <a:p>
            <a:r>
              <a:rPr lang="en-US" dirty="0" err="1"/>
              <a:t>DreamCoder</a:t>
            </a:r>
            <a:r>
              <a:rPr lang="en-US" dirty="0"/>
              <a:t> was powerful but enumerative search was slow. </a:t>
            </a:r>
          </a:p>
          <a:p>
            <a:r>
              <a:rPr lang="en-US" dirty="0"/>
              <a:t>Codex was fast but no correctness guarantees and no accumulated knowledge. </a:t>
            </a:r>
          </a:p>
          <a:p>
            <a:endParaRPr lang="en-US" dirty="0"/>
          </a:p>
          <a:p>
            <a:r>
              <a:rPr lang="en-US" dirty="0"/>
              <a:t>LILO takes </a:t>
            </a:r>
            <a:r>
              <a:rPr lang="en-US" dirty="0" err="1"/>
              <a:t>DreamCoder's</a:t>
            </a:r>
            <a:r>
              <a:rPr lang="en-US" dirty="0"/>
              <a:t> wake-sleep framework and makes one key change — instead of enumerating programs one by one in the wake phase, the LLM generates candidates directly. Way faster. The sleep phase stays exactly the same as </a:t>
            </a:r>
            <a:r>
              <a:rPr lang="en-US" dirty="0" err="1"/>
              <a:t>DreamCoder</a:t>
            </a:r>
            <a:r>
              <a:rPr lang="en-US" dirty="0"/>
              <a:t> with same compression, same library learning. </a:t>
            </a:r>
          </a:p>
          <a:p>
            <a:endParaRPr lang="en-US" dirty="0"/>
          </a:p>
          <a:p>
            <a:r>
              <a:rPr lang="en-US" dirty="0"/>
              <a:t>If you look at the diagram, section A is the LLM generating candidates from natural language descriptions, section B is Stitch which is the compression algorithm finding shared patterns, section C is </a:t>
            </a:r>
            <a:r>
              <a:rPr lang="en-US" dirty="0" err="1"/>
              <a:t>AutoDoc</a:t>
            </a:r>
            <a:r>
              <a:rPr lang="en-US" dirty="0"/>
              <a:t> which generates readable names for discovered functions, and section D shows the simplified programs that come out. </a:t>
            </a:r>
          </a:p>
          <a:p>
            <a:endParaRPr lang="en-US" dirty="0"/>
          </a:p>
          <a:p>
            <a:r>
              <a:rPr lang="en-US" dirty="0"/>
              <a:t>The genuinely new contribution is that auto-documentation piece and I'll show you exactly why it matters on the next slide</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17</a:t>
            </a:fld>
            <a:endParaRPr lang="en-IN"/>
          </a:p>
        </p:txBody>
      </p:sp>
    </p:spTree>
    <p:extLst>
      <p:ext uri="{BB962C8B-B14F-4D97-AF65-F5344CB8AC3E}">
        <p14:creationId xmlns:p14="http://schemas.microsoft.com/office/powerpoint/2010/main" val="4144660203"/>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684EAE-DBE0-3EC0-24D5-02CDA8423A0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C83600-92A4-BD9B-D10F-D16F0B2BD29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C5523D0-0D47-C758-AB8C-46B47323874A}"/>
              </a:ext>
            </a:extLst>
          </p:cNvPr>
          <p:cNvSpPr>
            <a:spLocks noGrp="1"/>
          </p:cNvSpPr>
          <p:nvPr>
            <p:ph type="body" idx="1"/>
          </p:nvPr>
        </p:nvSpPr>
        <p:spPr/>
        <p:txBody>
          <a:bodyPr/>
          <a:lstStyle/>
          <a:p>
            <a:r>
              <a:rPr lang="en-US" dirty="0"/>
              <a:t>LILO was published by Grand et al. at ICLR 2024 and it basically tries to fix everything we just talked about. </a:t>
            </a:r>
          </a:p>
          <a:p>
            <a:endParaRPr lang="en-US" dirty="0"/>
          </a:p>
          <a:p>
            <a:r>
              <a:rPr lang="en-US" dirty="0" err="1"/>
              <a:t>DreamCoder</a:t>
            </a:r>
            <a:r>
              <a:rPr lang="en-US" dirty="0"/>
              <a:t> was powerful but enumerative search was slow. </a:t>
            </a:r>
          </a:p>
          <a:p>
            <a:r>
              <a:rPr lang="en-US" dirty="0"/>
              <a:t>Codex was fast but no correctness guarantees and no accumulated knowledge. </a:t>
            </a:r>
          </a:p>
          <a:p>
            <a:endParaRPr lang="en-US" dirty="0"/>
          </a:p>
          <a:p>
            <a:r>
              <a:rPr lang="en-US" dirty="0"/>
              <a:t>LILO takes </a:t>
            </a:r>
            <a:r>
              <a:rPr lang="en-US" dirty="0" err="1"/>
              <a:t>DreamCoder's</a:t>
            </a:r>
            <a:r>
              <a:rPr lang="en-US" dirty="0"/>
              <a:t> wake-sleep framework and makes one key change — instead of enumerating programs one by one in the wake phase, the LLM generates candidates directly. Way faster. The sleep phase stays exactly the same as </a:t>
            </a:r>
            <a:r>
              <a:rPr lang="en-US" dirty="0" err="1"/>
              <a:t>DreamCoder</a:t>
            </a:r>
            <a:r>
              <a:rPr lang="en-US" dirty="0"/>
              <a:t> with same compression, same library learning. </a:t>
            </a:r>
          </a:p>
          <a:p>
            <a:endParaRPr lang="en-US" dirty="0"/>
          </a:p>
          <a:p>
            <a:r>
              <a:rPr lang="en-US" dirty="0"/>
              <a:t>If you look at the diagram, section A is the LLM generating candidates from natural language descriptions, section B is Stitch which is the compression algorithm finding shared patterns, section C is </a:t>
            </a:r>
            <a:r>
              <a:rPr lang="en-US" dirty="0" err="1"/>
              <a:t>AutoDoc</a:t>
            </a:r>
            <a:r>
              <a:rPr lang="en-US" dirty="0"/>
              <a:t> which generates readable names for discovered functions, and section D shows the simplified programs that come out. </a:t>
            </a:r>
          </a:p>
          <a:p>
            <a:endParaRPr lang="en-US" dirty="0"/>
          </a:p>
          <a:p>
            <a:r>
              <a:rPr lang="en-US" dirty="0"/>
              <a:t>The genuinely new contribution is that auto-documentation piece and I'll show you exactly why it matters on the next slide</a:t>
            </a:r>
            <a:endParaRPr lang="en-IN" dirty="0"/>
          </a:p>
        </p:txBody>
      </p:sp>
      <p:sp>
        <p:nvSpPr>
          <p:cNvPr id="4" name="Slide Number Placeholder 3">
            <a:extLst>
              <a:ext uri="{FF2B5EF4-FFF2-40B4-BE49-F238E27FC236}">
                <a16:creationId xmlns:a16="http://schemas.microsoft.com/office/drawing/2014/main" id="{B5E0BF1B-E844-25B8-9A72-94FAE7477327}"/>
              </a:ext>
            </a:extLst>
          </p:cNvPr>
          <p:cNvSpPr>
            <a:spLocks noGrp="1"/>
          </p:cNvSpPr>
          <p:nvPr>
            <p:ph type="sldNum" sz="quarter" idx="5"/>
          </p:nvPr>
        </p:nvSpPr>
        <p:spPr/>
        <p:txBody>
          <a:bodyPr/>
          <a:lstStyle/>
          <a:p>
            <a:fld id="{F5B274CE-747D-4E3A-A65A-DBCE5336B6EB}" type="slidenum">
              <a:rPr lang="en-IN" smtClean="0"/>
              <a:t>18</a:t>
            </a:fld>
            <a:endParaRPr lang="en-IN"/>
          </a:p>
        </p:txBody>
      </p:sp>
    </p:spTree>
    <p:extLst>
      <p:ext uri="{BB962C8B-B14F-4D97-AF65-F5344CB8AC3E}">
        <p14:creationId xmlns:p14="http://schemas.microsoft.com/office/powerpoint/2010/main" val="404537928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6C35FF-DF9C-2F71-BDD3-B546219C091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BA77574-47B8-C67B-2DB3-DF61EE5B027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200F2F-4BEA-CE07-CFE5-582E60C41580}"/>
              </a:ext>
            </a:extLst>
          </p:cNvPr>
          <p:cNvSpPr>
            <a:spLocks noGrp="1"/>
          </p:cNvSpPr>
          <p:nvPr>
            <p:ph type="body" idx="1"/>
          </p:nvPr>
        </p:nvSpPr>
        <p:spPr/>
        <p:txBody>
          <a:bodyPr/>
          <a:lstStyle/>
          <a:p>
            <a:r>
              <a:rPr lang="en-US" dirty="0"/>
              <a:t>LILO was published by Grand et al. at ICLR 2024 and it basically tries to fix everything we just talked about. </a:t>
            </a:r>
          </a:p>
          <a:p>
            <a:endParaRPr lang="en-US" dirty="0"/>
          </a:p>
          <a:p>
            <a:r>
              <a:rPr lang="en-US" dirty="0" err="1"/>
              <a:t>DreamCoder</a:t>
            </a:r>
            <a:r>
              <a:rPr lang="en-US" dirty="0"/>
              <a:t> was powerful but enumerative search was slow. </a:t>
            </a:r>
          </a:p>
          <a:p>
            <a:r>
              <a:rPr lang="en-US" dirty="0"/>
              <a:t>Codex was fast but no correctness guarantees and no accumulated knowledge. </a:t>
            </a:r>
          </a:p>
          <a:p>
            <a:endParaRPr lang="en-US" dirty="0"/>
          </a:p>
          <a:p>
            <a:r>
              <a:rPr lang="en-US" dirty="0"/>
              <a:t>LILO takes </a:t>
            </a:r>
            <a:r>
              <a:rPr lang="en-US" dirty="0" err="1"/>
              <a:t>DreamCoder's</a:t>
            </a:r>
            <a:r>
              <a:rPr lang="en-US" dirty="0"/>
              <a:t> wake-sleep framework and makes one key change — instead of enumerating programs one by one in the wake phase, the LLM generates candidates directly. Way faster. The sleep phase stays exactly the same as </a:t>
            </a:r>
            <a:r>
              <a:rPr lang="en-US" dirty="0" err="1"/>
              <a:t>DreamCoder</a:t>
            </a:r>
            <a:r>
              <a:rPr lang="en-US" dirty="0"/>
              <a:t> with same compression, same library learning. </a:t>
            </a:r>
          </a:p>
          <a:p>
            <a:endParaRPr lang="en-US" dirty="0"/>
          </a:p>
          <a:p>
            <a:r>
              <a:rPr lang="en-US" dirty="0"/>
              <a:t>If you look at the diagram, section A is the LLM generating candidates from natural language descriptions, section B is Stitch which is the compression algorithm finding shared patterns, section C is </a:t>
            </a:r>
            <a:r>
              <a:rPr lang="en-US" dirty="0" err="1"/>
              <a:t>AutoDoc</a:t>
            </a:r>
            <a:r>
              <a:rPr lang="en-US" dirty="0"/>
              <a:t> which generates readable names for discovered functions, and section D shows the simplified programs that come out. </a:t>
            </a:r>
          </a:p>
          <a:p>
            <a:endParaRPr lang="en-US" dirty="0"/>
          </a:p>
          <a:p>
            <a:r>
              <a:rPr lang="en-US" dirty="0"/>
              <a:t>The genuinely new contribution is that auto-documentation piece and I'll show you exactly why it matters on the next slide</a:t>
            </a:r>
            <a:endParaRPr lang="en-IN" dirty="0"/>
          </a:p>
        </p:txBody>
      </p:sp>
      <p:sp>
        <p:nvSpPr>
          <p:cNvPr id="4" name="Slide Number Placeholder 3">
            <a:extLst>
              <a:ext uri="{FF2B5EF4-FFF2-40B4-BE49-F238E27FC236}">
                <a16:creationId xmlns:a16="http://schemas.microsoft.com/office/drawing/2014/main" id="{FB9EA636-C9F2-BA59-2189-D1A7268C5E4F}"/>
              </a:ext>
            </a:extLst>
          </p:cNvPr>
          <p:cNvSpPr>
            <a:spLocks noGrp="1"/>
          </p:cNvSpPr>
          <p:nvPr>
            <p:ph type="sldNum" sz="quarter" idx="5"/>
          </p:nvPr>
        </p:nvSpPr>
        <p:spPr/>
        <p:txBody>
          <a:bodyPr/>
          <a:lstStyle/>
          <a:p>
            <a:fld id="{F5B274CE-747D-4E3A-A65A-DBCE5336B6EB}" type="slidenum">
              <a:rPr lang="en-IN" smtClean="0"/>
              <a:t>19</a:t>
            </a:fld>
            <a:endParaRPr lang="en-IN"/>
          </a:p>
        </p:txBody>
      </p:sp>
    </p:spTree>
    <p:extLst>
      <p:ext uri="{BB962C8B-B14F-4D97-AF65-F5344CB8AC3E}">
        <p14:creationId xmlns:p14="http://schemas.microsoft.com/office/powerpoint/2010/main" val="42948628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F4AF4F1-A7A5-FCF2-140C-E98EFC8DFD74}"/>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AD72BB3-957B-3D59-01AE-DB1D28ACAF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6770EDF-B777-2E4A-D993-A2C65BA0527A}"/>
              </a:ext>
            </a:extLst>
          </p:cNvPr>
          <p:cNvSpPr>
            <a:spLocks noGrp="1"/>
          </p:cNvSpPr>
          <p:nvPr>
            <p:ph type="body" idx="1"/>
          </p:nvPr>
        </p:nvSpPr>
        <p:spPr/>
        <p:txBody>
          <a:bodyPr/>
          <a:lstStyle/>
          <a:p>
            <a:r>
              <a:rPr lang="en-US" dirty="0"/>
              <a:t>LILO was published by Grand et al. at ICLR 2024 and it basically tries to fix everything we just talked about. </a:t>
            </a:r>
          </a:p>
          <a:p>
            <a:endParaRPr lang="en-US" dirty="0"/>
          </a:p>
          <a:p>
            <a:r>
              <a:rPr lang="en-US" dirty="0" err="1"/>
              <a:t>DreamCoder</a:t>
            </a:r>
            <a:r>
              <a:rPr lang="en-US" dirty="0"/>
              <a:t> was powerful but enumerative search was slow. </a:t>
            </a:r>
          </a:p>
          <a:p>
            <a:r>
              <a:rPr lang="en-US" dirty="0"/>
              <a:t>Codex was fast but no correctness guarantees and no accumulated knowledge. </a:t>
            </a:r>
          </a:p>
          <a:p>
            <a:endParaRPr lang="en-US" dirty="0"/>
          </a:p>
          <a:p>
            <a:r>
              <a:rPr lang="en-US" dirty="0"/>
              <a:t>LILO takes </a:t>
            </a:r>
            <a:r>
              <a:rPr lang="en-US" dirty="0" err="1"/>
              <a:t>DreamCoder's</a:t>
            </a:r>
            <a:r>
              <a:rPr lang="en-US" dirty="0"/>
              <a:t> wake-sleep framework and makes one key change — instead of enumerating programs one by one in the wake phase, the LLM generates candidates directly. Way faster. The sleep phase stays exactly the same as </a:t>
            </a:r>
            <a:r>
              <a:rPr lang="en-US" dirty="0" err="1"/>
              <a:t>DreamCoder</a:t>
            </a:r>
            <a:r>
              <a:rPr lang="en-US" dirty="0"/>
              <a:t> with same compression, same library learning. </a:t>
            </a:r>
          </a:p>
          <a:p>
            <a:endParaRPr lang="en-US" dirty="0"/>
          </a:p>
          <a:p>
            <a:r>
              <a:rPr lang="en-US" dirty="0"/>
              <a:t>If you look at the diagram, section A is the LLM generating candidates from natural language descriptions, section B is Stitch which is the compression algorithm finding shared patterns, section C is </a:t>
            </a:r>
            <a:r>
              <a:rPr lang="en-US" dirty="0" err="1"/>
              <a:t>AutoDoc</a:t>
            </a:r>
            <a:r>
              <a:rPr lang="en-US" dirty="0"/>
              <a:t> which generates readable names for discovered functions, and section D shows the simplified programs that come out. </a:t>
            </a:r>
          </a:p>
          <a:p>
            <a:endParaRPr lang="en-US" dirty="0"/>
          </a:p>
          <a:p>
            <a:r>
              <a:rPr lang="en-US" dirty="0"/>
              <a:t>The genuinely new contribution is that auto-documentation piece and I'll show you exactly why it matters on the next slide</a:t>
            </a:r>
            <a:endParaRPr lang="en-IN" dirty="0"/>
          </a:p>
        </p:txBody>
      </p:sp>
      <p:sp>
        <p:nvSpPr>
          <p:cNvPr id="4" name="Slide Number Placeholder 3">
            <a:extLst>
              <a:ext uri="{FF2B5EF4-FFF2-40B4-BE49-F238E27FC236}">
                <a16:creationId xmlns:a16="http://schemas.microsoft.com/office/drawing/2014/main" id="{1F676E96-E265-DEE7-E6B6-45CB5BBBD11C}"/>
              </a:ext>
            </a:extLst>
          </p:cNvPr>
          <p:cNvSpPr>
            <a:spLocks noGrp="1"/>
          </p:cNvSpPr>
          <p:nvPr>
            <p:ph type="sldNum" sz="quarter" idx="5"/>
          </p:nvPr>
        </p:nvSpPr>
        <p:spPr/>
        <p:txBody>
          <a:bodyPr/>
          <a:lstStyle/>
          <a:p>
            <a:fld id="{F5B274CE-747D-4E3A-A65A-DBCE5336B6EB}" type="slidenum">
              <a:rPr lang="en-IN" smtClean="0"/>
              <a:t>20</a:t>
            </a:fld>
            <a:endParaRPr lang="en-IN"/>
          </a:p>
        </p:txBody>
      </p:sp>
    </p:spTree>
    <p:extLst>
      <p:ext uri="{BB962C8B-B14F-4D97-AF65-F5344CB8AC3E}">
        <p14:creationId xmlns:p14="http://schemas.microsoft.com/office/powerpoint/2010/main" val="34459111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here's the most surprising finding in the paper. When they first gave the LLM the compressed abstractions from </a:t>
            </a:r>
            <a:r>
              <a:rPr lang="en-US" dirty="0" err="1"/>
              <a:t>DreamCoder</a:t>
            </a:r>
            <a:r>
              <a:rPr lang="en-US" dirty="0"/>
              <a:t>, performance actually got worse. On the REGEX domain solve rates dropped over 30 points. Why? Because </a:t>
            </a:r>
            <a:r>
              <a:rPr lang="en-US" dirty="0" err="1"/>
              <a:t>DreamCoder's</a:t>
            </a:r>
            <a:r>
              <a:rPr lang="en-US" dirty="0"/>
              <a:t> compression produces anonymous functions like fn_42 with no meaningful name. The LLM has no idea what fn_42 does so it just ignores it. The fix was auto-documentation. After each compression step the LLM generates a readable name and description for each new function. So instead of fn_42 you get double with the description returns twice the input. Now the LLM actually understands what it can use. And that's it</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21</a:t>
            </a:fld>
            <a:endParaRPr lang="en-IN"/>
          </a:p>
        </p:txBody>
      </p:sp>
    </p:spTree>
    <p:extLst>
      <p:ext uri="{BB962C8B-B14F-4D97-AF65-F5344CB8AC3E}">
        <p14:creationId xmlns:p14="http://schemas.microsoft.com/office/powerpoint/2010/main" val="363646731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are the results. The three graphs show tasks solved over search time across REGEX, CLEVR, and LOGO. Red line is LILO, green is </a:t>
            </a:r>
            <a:r>
              <a:rPr lang="en-US" dirty="0" err="1"/>
              <a:t>DreamCoder</a:t>
            </a:r>
            <a:r>
              <a:rPr lang="en-US" dirty="0"/>
              <a:t>, blue is the base DSL with no learning. </a:t>
            </a:r>
          </a:p>
          <a:p>
            <a:endParaRPr lang="en-US" dirty="0"/>
          </a:p>
          <a:p>
            <a:r>
              <a:rPr lang="en-US" dirty="0"/>
              <a:t>LILO is clearly on top in REGEX and LOGO — 33 points over </a:t>
            </a:r>
            <a:r>
              <a:rPr lang="en-US" dirty="0" err="1"/>
              <a:t>DreamCoder</a:t>
            </a:r>
            <a:r>
              <a:rPr lang="en-US" dirty="0"/>
              <a:t> on REGEX, 20 points on LOGO. CLEVR is a smaller improvement but </a:t>
            </a:r>
            <a:r>
              <a:rPr lang="en-US" dirty="0" err="1"/>
              <a:t>DreamCoder</a:t>
            </a:r>
            <a:r>
              <a:rPr lang="en-US" dirty="0"/>
              <a:t> was already at 94.5% there so there wasn't much room anyway. </a:t>
            </a:r>
          </a:p>
          <a:p>
            <a:r>
              <a:rPr lang="en-US" dirty="0"/>
              <a:t>Also notice the lighter red lines — those are ablations removing parts of LILO. Removing </a:t>
            </a:r>
            <a:r>
              <a:rPr lang="en-US" dirty="0" err="1"/>
              <a:t>AutoDoc</a:t>
            </a:r>
            <a:r>
              <a:rPr lang="en-US" dirty="0"/>
              <a:t> hurts performance, which directly shows its contribution. </a:t>
            </a:r>
          </a:p>
          <a:p>
            <a:endParaRPr lang="en-US" dirty="0"/>
          </a:p>
          <a:p>
            <a:endParaRPr lang="en-US" dirty="0"/>
          </a:p>
          <a:p>
            <a:r>
              <a:rPr lang="en-US" dirty="0"/>
              <a:t>Now the limitations. LILO still needs hand-designed primitives to initialize the library so you can't start from nothing in a brand new domain. It also depends on a capable LLM which costs money and adds latency. And it's only been tested on three domains so how well it generalizes beyond those is an open question.</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22</a:t>
            </a:fld>
            <a:endParaRPr lang="en-IN"/>
          </a:p>
        </p:txBody>
      </p:sp>
    </p:spTree>
    <p:extLst>
      <p:ext uri="{BB962C8B-B14F-4D97-AF65-F5344CB8AC3E}">
        <p14:creationId xmlns:p14="http://schemas.microsoft.com/office/powerpoint/2010/main" val="18846641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So where does the field stand right now? </a:t>
            </a:r>
          </a:p>
          <a:p>
            <a:r>
              <a:rPr lang="en-US" dirty="0"/>
              <a:t>Classical methods are correct but only work in narrow domains and you need to hand-design a DSL every single time. </a:t>
            </a:r>
          </a:p>
          <a:p>
            <a:r>
              <a:rPr lang="en-US" dirty="0"/>
              <a:t>Neural methods are fast and flexible but they fail silently and there are no guarantees. </a:t>
            </a:r>
          </a:p>
          <a:p>
            <a:r>
              <a:rPr lang="en-US" dirty="0" err="1"/>
              <a:t>Neurosymbolic</a:t>
            </a:r>
            <a:r>
              <a:rPr lang="en-US" dirty="0"/>
              <a:t> systems like LILO are the most promising direction but they're expensive and have only been tested on three domains. </a:t>
            </a:r>
          </a:p>
          <a:p>
            <a:endParaRPr lang="en-US" dirty="0"/>
          </a:p>
          <a:p>
            <a:r>
              <a:rPr lang="en-US" dirty="0"/>
              <a:t>And there are bigger questions nobody has really answered yet — what do you do when user intent is genuinely ambiguous, how do you build tools that non-experts can actually trust, can formal guarantees even survive as systems get more neural, and can we ever build a synthesizer that works anywhere without hand-engineering a DSL first. </a:t>
            </a:r>
          </a:p>
          <a:p>
            <a:endParaRPr lang="en-US" dirty="0"/>
          </a:p>
          <a:p>
            <a:r>
              <a:rPr lang="en-US" dirty="0"/>
              <a:t>The field is moving though — in 2024 hybrid approaches combining LLMs with formal synthesis are already solving 80% of benchmarks. But a truly general solution still doesn't exist. That's what the next decade is probably about.</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23</a:t>
            </a:fld>
            <a:endParaRPr lang="en-IN"/>
          </a:p>
        </p:txBody>
      </p:sp>
    </p:spTree>
    <p:extLst>
      <p:ext uri="{BB962C8B-B14F-4D97-AF65-F5344CB8AC3E}">
        <p14:creationId xmlns:p14="http://schemas.microsoft.com/office/powerpoint/2010/main" val="364654577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So to wrap up. The whole field has been wrestling with one tension — correctness versus flexibility. </a:t>
            </a:r>
          </a:p>
          <a:p>
            <a:pPr marL="171450" indent="-171450">
              <a:buFont typeface="Arial" panose="020B0604020202020204" pitchFamily="34" charset="0"/>
              <a:buChar char="•"/>
            </a:pPr>
            <a:r>
              <a:rPr lang="en-US" dirty="0"/>
              <a:t>Classical methods solved correctness but not generality. </a:t>
            </a:r>
          </a:p>
          <a:p>
            <a:pPr marL="171450" indent="-171450">
              <a:buFont typeface="Arial" panose="020B0604020202020204" pitchFamily="34" charset="0"/>
              <a:buChar char="•"/>
            </a:pPr>
            <a:r>
              <a:rPr lang="en-US" dirty="0"/>
              <a:t>Neural methods solved generality but not correctness. </a:t>
            </a:r>
            <a:r>
              <a:rPr lang="en-US" dirty="0" err="1"/>
              <a:t>Neurosymbolic</a:t>
            </a:r>
            <a:r>
              <a:rPr lang="en-US" dirty="0"/>
              <a:t> methods are trying to solve both and LILO is the best answer so far. </a:t>
            </a:r>
          </a:p>
          <a:p>
            <a:endParaRPr lang="en-US" dirty="0"/>
          </a:p>
          <a:p>
            <a:r>
              <a:rPr lang="en-US" dirty="0"/>
              <a:t>Each paper we covered today solved something its predecessors couldn’t. </a:t>
            </a:r>
          </a:p>
          <a:p>
            <a:r>
              <a:rPr lang="en-US" dirty="0"/>
              <a:t>SKETCH made synthesis domain-agnostic, </a:t>
            </a:r>
            <a:r>
              <a:rPr lang="en-US" dirty="0" err="1"/>
              <a:t>FlashFill</a:t>
            </a:r>
            <a:r>
              <a:rPr lang="en-US" dirty="0"/>
              <a:t> made it practical, the survey mapped everything, </a:t>
            </a:r>
            <a:r>
              <a:rPr lang="en-US" dirty="0" err="1"/>
              <a:t>DreamCoder</a:t>
            </a:r>
            <a:r>
              <a:rPr lang="en-US" dirty="0"/>
              <a:t> made it cumulative, Codex made it fast, LILO combined both. </a:t>
            </a:r>
          </a:p>
          <a:p>
            <a:endParaRPr lang="en-US" dirty="0"/>
          </a:p>
          <a:p>
            <a:r>
              <a:rPr lang="en-US" dirty="0"/>
              <a:t>We went from synthesizing AES in an hour in 2006 to GitHub Copilot in 2021 in twenty years. </a:t>
            </a:r>
          </a:p>
          <a:p>
            <a:endParaRPr lang="en-US" dirty="0"/>
          </a:p>
          <a:p>
            <a:r>
              <a:rPr lang="en-US" dirty="0"/>
              <a:t>But a general synthesis system that works anywhere without hand-engineering still doesn't exist. Can computers write programs for us? The field is closer than ever. But it's not there yet.</a:t>
            </a:r>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24</a:t>
            </a:fld>
            <a:endParaRPr lang="en-IN"/>
          </a:p>
        </p:txBody>
      </p:sp>
    </p:spTree>
    <p:extLst>
      <p:ext uri="{BB962C8B-B14F-4D97-AF65-F5344CB8AC3E}">
        <p14:creationId xmlns:p14="http://schemas.microsoft.com/office/powerpoint/2010/main" val="713373923"/>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F5B274CE-747D-4E3A-A65A-DBCE5336B6EB}" type="slidenum">
              <a:rPr lang="en-IN" smtClean="0"/>
              <a:t>25</a:t>
            </a:fld>
            <a:endParaRPr lang="en-IN"/>
          </a:p>
        </p:txBody>
      </p:sp>
    </p:spTree>
    <p:extLst>
      <p:ext uri="{BB962C8B-B14F-4D97-AF65-F5344CB8AC3E}">
        <p14:creationId xmlns:p14="http://schemas.microsoft.com/office/powerpoint/2010/main" val="231417013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0813D8-0272-CE88-8A8A-BCF159EDDC98}"/>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802746AC-135C-D319-A130-0368481FB5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2363E16-B9FF-5710-6E25-0AF724642B97}"/>
              </a:ext>
            </a:extLst>
          </p:cNvPr>
          <p:cNvSpPr>
            <a:spLocks noGrp="1"/>
          </p:cNvSpPr>
          <p:nvPr>
            <p:ph type="dt" sz="half" idx="10"/>
          </p:nvPr>
        </p:nvSpPr>
        <p:spPr/>
        <p:txBody>
          <a:bodyPr/>
          <a:lstStyle/>
          <a:p>
            <a:fld id="{A9A22E12-EA6B-4E0C-A973-6C611E4121DB}" type="datetime1">
              <a:rPr lang="en-IN" smtClean="0"/>
              <a:t>13-04-2026</a:t>
            </a:fld>
            <a:endParaRPr lang="en-IN"/>
          </a:p>
        </p:txBody>
      </p:sp>
      <p:sp>
        <p:nvSpPr>
          <p:cNvPr id="5" name="Footer Placeholder 4">
            <a:extLst>
              <a:ext uri="{FF2B5EF4-FFF2-40B4-BE49-F238E27FC236}">
                <a16:creationId xmlns:a16="http://schemas.microsoft.com/office/drawing/2014/main" id="{EFAA8157-08CF-68C7-488F-3AC261D8B9C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752BD04-96B9-CA23-E7EF-6741E1156304}"/>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41194428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ADE2F10-E5F3-9CAF-44CB-7E0D530C9F30}"/>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FE5839D-E3F6-5136-9D9F-C7B607F31D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A25F767-F699-4D78-0B03-E7AEB3247443}"/>
              </a:ext>
            </a:extLst>
          </p:cNvPr>
          <p:cNvSpPr>
            <a:spLocks noGrp="1"/>
          </p:cNvSpPr>
          <p:nvPr>
            <p:ph type="dt" sz="half" idx="10"/>
          </p:nvPr>
        </p:nvSpPr>
        <p:spPr/>
        <p:txBody>
          <a:bodyPr/>
          <a:lstStyle/>
          <a:p>
            <a:fld id="{4EDF2BF2-3539-41E0-BDA6-E4441E5362DE}" type="datetime1">
              <a:rPr lang="en-IN" smtClean="0"/>
              <a:t>13-04-2026</a:t>
            </a:fld>
            <a:endParaRPr lang="en-IN"/>
          </a:p>
        </p:txBody>
      </p:sp>
      <p:sp>
        <p:nvSpPr>
          <p:cNvPr id="5" name="Footer Placeholder 4">
            <a:extLst>
              <a:ext uri="{FF2B5EF4-FFF2-40B4-BE49-F238E27FC236}">
                <a16:creationId xmlns:a16="http://schemas.microsoft.com/office/drawing/2014/main" id="{A4AC4AB4-0F4B-B80D-4011-D46435A3FB8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9A272C0-C863-82C4-AA36-43B53DC09C2A}"/>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3552447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BD52AF-4830-33A0-12CA-C6188557D96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FA491AF8-CFA6-2109-5833-8D745E4F4821}"/>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809175F-C537-AB11-4894-510F89AEE908}"/>
              </a:ext>
            </a:extLst>
          </p:cNvPr>
          <p:cNvSpPr>
            <a:spLocks noGrp="1"/>
          </p:cNvSpPr>
          <p:nvPr>
            <p:ph type="dt" sz="half" idx="10"/>
          </p:nvPr>
        </p:nvSpPr>
        <p:spPr/>
        <p:txBody>
          <a:bodyPr/>
          <a:lstStyle/>
          <a:p>
            <a:fld id="{E2A3A0D6-D29D-4713-A337-310F2948F535}" type="datetime1">
              <a:rPr lang="en-IN" smtClean="0"/>
              <a:t>13-04-2026</a:t>
            </a:fld>
            <a:endParaRPr lang="en-IN"/>
          </a:p>
        </p:txBody>
      </p:sp>
      <p:sp>
        <p:nvSpPr>
          <p:cNvPr id="5" name="Footer Placeholder 4">
            <a:extLst>
              <a:ext uri="{FF2B5EF4-FFF2-40B4-BE49-F238E27FC236}">
                <a16:creationId xmlns:a16="http://schemas.microsoft.com/office/drawing/2014/main" id="{89F9DDB0-D9B1-3821-84B4-7B68A138060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FAC6222-4E1B-D9B8-2479-897167BD74E0}"/>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293474251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C06C5D-BD22-9FE1-6BF1-9AE93DA76C85}"/>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EF1250F8-E2E6-8265-B410-1A731F04C8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5DCDFCA-2F50-22E3-ECE0-9B93291802FD}"/>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B6539BFE-6885-AA73-503B-89FE84F78CB0}"/>
              </a:ext>
            </a:extLst>
          </p:cNvPr>
          <p:cNvSpPr>
            <a:spLocks noGrp="1"/>
          </p:cNvSpPr>
          <p:nvPr>
            <p:ph type="dt" sz="half" idx="10"/>
          </p:nvPr>
        </p:nvSpPr>
        <p:spPr/>
        <p:txBody>
          <a:bodyPr/>
          <a:lstStyle/>
          <a:p>
            <a:fld id="{1093DA86-54A5-4047-AA99-F85686617CB8}" type="datetime1">
              <a:rPr lang="en-IN" smtClean="0"/>
              <a:t>13-04-2026</a:t>
            </a:fld>
            <a:endParaRPr lang="en-IN"/>
          </a:p>
        </p:txBody>
      </p:sp>
      <p:sp>
        <p:nvSpPr>
          <p:cNvPr id="6" name="Footer Placeholder 5">
            <a:extLst>
              <a:ext uri="{FF2B5EF4-FFF2-40B4-BE49-F238E27FC236}">
                <a16:creationId xmlns:a16="http://schemas.microsoft.com/office/drawing/2014/main" id="{8B155C43-C8D4-106D-DDDC-93B43C385C8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C2722DBD-66D4-8717-7415-D95000319C83}"/>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419791044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5D234EA-DE43-0B92-A6B5-2DC2B5ADED14}"/>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83F392C3-1774-C156-E4E9-D4558724C26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6B3FD64E-66DD-A243-7EA4-24DB246D12D9}"/>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8A665278-FA4C-A21C-8055-F4F8A6F2B020}"/>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4341FEE9-A2AF-12B5-B80F-EC3FB41E413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C21FB93B-68E6-7820-A327-E1489BF489AE}"/>
              </a:ext>
            </a:extLst>
          </p:cNvPr>
          <p:cNvSpPr>
            <a:spLocks noGrp="1"/>
          </p:cNvSpPr>
          <p:nvPr>
            <p:ph type="dt" sz="half" idx="10"/>
          </p:nvPr>
        </p:nvSpPr>
        <p:spPr/>
        <p:txBody>
          <a:bodyPr/>
          <a:lstStyle/>
          <a:p>
            <a:fld id="{80C4CE12-6754-4856-A022-38E182504059}" type="datetime1">
              <a:rPr lang="en-IN" smtClean="0"/>
              <a:t>13-04-2026</a:t>
            </a:fld>
            <a:endParaRPr lang="en-IN"/>
          </a:p>
        </p:txBody>
      </p:sp>
      <p:sp>
        <p:nvSpPr>
          <p:cNvPr id="8" name="Footer Placeholder 7">
            <a:extLst>
              <a:ext uri="{FF2B5EF4-FFF2-40B4-BE49-F238E27FC236}">
                <a16:creationId xmlns:a16="http://schemas.microsoft.com/office/drawing/2014/main" id="{3E0EC734-09B8-0720-2C69-88C3E8ACD99C}"/>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D5C8D19E-CBEB-FEC6-D2C0-CEE82DE7147D}"/>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18580358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8D407B-E63D-B98A-547A-7771C1F4297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22DECBD3-EF29-F4CC-8A81-03AFBCA85647}"/>
              </a:ext>
            </a:extLst>
          </p:cNvPr>
          <p:cNvSpPr>
            <a:spLocks noGrp="1"/>
          </p:cNvSpPr>
          <p:nvPr>
            <p:ph type="dt" sz="half" idx="10"/>
          </p:nvPr>
        </p:nvSpPr>
        <p:spPr/>
        <p:txBody>
          <a:bodyPr/>
          <a:lstStyle/>
          <a:p>
            <a:fld id="{9D4D8019-DDFE-452E-9397-DF42EECCD2FD}" type="datetime1">
              <a:rPr lang="en-IN" smtClean="0"/>
              <a:t>13-04-2026</a:t>
            </a:fld>
            <a:endParaRPr lang="en-IN"/>
          </a:p>
        </p:txBody>
      </p:sp>
      <p:sp>
        <p:nvSpPr>
          <p:cNvPr id="4" name="Footer Placeholder 3">
            <a:extLst>
              <a:ext uri="{FF2B5EF4-FFF2-40B4-BE49-F238E27FC236}">
                <a16:creationId xmlns:a16="http://schemas.microsoft.com/office/drawing/2014/main" id="{E100494E-D379-56CC-C176-8C742C30D7A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13FD5C38-7E53-A97A-5346-B1F8D9456F23}"/>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30892158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A946903-367A-5B99-CBE9-703F2181A6C4}"/>
              </a:ext>
            </a:extLst>
          </p:cNvPr>
          <p:cNvSpPr>
            <a:spLocks noGrp="1"/>
          </p:cNvSpPr>
          <p:nvPr>
            <p:ph type="dt" sz="half" idx="10"/>
          </p:nvPr>
        </p:nvSpPr>
        <p:spPr/>
        <p:txBody>
          <a:bodyPr/>
          <a:lstStyle/>
          <a:p>
            <a:fld id="{C8AE767A-BC78-4A54-878A-BD70DF5940DE}" type="datetime1">
              <a:rPr lang="en-IN" smtClean="0"/>
              <a:t>13-04-2026</a:t>
            </a:fld>
            <a:endParaRPr lang="en-IN"/>
          </a:p>
        </p:txBody>
      </p:sp>
      <p:sp>
        <p:nvSpPr>
          <p:cNvPr id="3" name="Footer Placeholder 2">
            <a:extLst>
              <a:ext uri="{FF2B5EF4-FFF2-40B4-BE49-F238E27FC236}">
                <a16:creationId xmlns:a16="http://schemas.microsoft.com/office/drawing/2014/main" id="{85B169CF-1C01-FCC2-A8A4-2F3B19FF9FD3}"/>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D8448EB4-D0CE-D2BA-5DC1-98B6621DFF80}"/>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4681545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0C3CF7-16FE-8DB4-F061-6F5F7A9E3A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AB02A905-8C69-AB6B-BE72-3862D521B56E}"/>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43D91647-04CE-B746-99FC-239F2F70B9F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0C6A5CF-E0FD-988B-52C4-D518E5889867}"/>
              </a:ext>
            </a:extLst>
          </p:cNvPr>
          <p:cNvSpPr>
            <a:spLocks noGrp="1"/>
          </p:cNvSpPr>
          <p:nvPr>
            <p:ph type="dt" sz="half" idx="10"/>
          </p:nvPr>
        </p:nvSpPr>
        <p:spPr/>
        <p:txBody>
          <a:bodyPr/>
          <a:lstStyle/>
          <a:p>
            <a:fld id="{62F48C21-0F40-4EF4-B820-9B32FE938B52}" type="datetime1">
              <a:rPr lang="en-IN" smtClean="0"/>
              <a:t>13-04-2026</a:t>
            </a:fld>
            <a:endParaRPr lang="en-IN"/>
          </a:p>
        </p:txBody>
      </p:sp>
      <p:sp>
        <p:nvSpPr>
          <p:cNvPr id="6" name="Footer Placeholder 5">
            <a:extLst>
              <a:ext uri="{FF2B5EF4-FFF2-40B4-BE49-F238E27FC236}">
                <a16:creationId xmlns:a16="http://schemas.microsoft.com/office/drawing/2014/main" id="{D4E4CF89-D446-84A4-DBBF-C70E08142C4C}"/>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6513358-5469-9ECE-D561-3B0B2FB7053C}"/>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27306102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4D97E25-CA0D-EC23-AD39-4A5F8091A59C}"/>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D9F88E0-EA5C-3C3E-BA1F-12DE3F864A9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E237600E-BBF2-FFA6-97BE-43E9081FB7C9}"/>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EF73992-8F9E-1B3A-F2E1-E9A2A1DA9C8A}"/>
              </a:ext>
            </a:extLst>
          </p:cNvPr>
          <p:cNvSpPr>
            <a:spLocks noGrp="1"/>
          </p:cNvSpPr>
          <p:nvPr>
            <p:ph type="dt" sz="half" idx="10"/>
          </p:nvPr>
        </p:nvSpPr>
        <p:spPr/>
        <p:txBody>
          <a:bodyPr/>
          <a:lstStyle/>
          <a:p>
            <a:fld id="{CF557D42-21F3-4997-B159-1888AB35A6ED}" type="datetime1">
              <a:rPr lang="en-IN" smtClean="0"/>
              <a:t>13-04-2026</a:t>
            </a:fld>
            <a:endParaRPr lang="en-IN"/>
          </a:p>
        </p:txBody>
      </p:sp>
      <p:sp>
        <p:nvSpPr>
          <p:cNvPr id="6" name="Footer Placeholder 5">
            <a:extLst>
              <a:ext uri="{FF2B5EF4-FFF2-40B4-BE49-F238E27FC236}">
                <a16:creationId xmlns:a16="http://schemas.microsoft.com/office/drawing/2014/main" id="{7F33A389-EA43-371B-EC7A-F62196FB6A80}"/>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65BF409B-EEA2-ABCE-500A-A9B8CAB5F046}"/>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16239481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33D8159-95DE-5230-12FE-05D542222655}"/>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2F31EF6-F1BD-74B7-6F86-5E78C0ECE715}"/>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D18B585-9E21-DEE6-DD40-EC792302E7B0}"/>
              </a:ext>
            </a:extLst>
          </p:cNvPr>
          <p:cNvSpPr>
            <a:spLocks noGrp="1"/>
          </p:cNvSpPr>
          <p:nvPr>
            <p:ph type="dt" sz="half" idx="10"/>
          </p:nvPr>
        </p:nvSpPr>
        <p:spPr/>
        <p:txBody>
          <a:bodyPr/>
          <a:lstStyle/>
          <a:p>
            <a:fld id="{DC9AAD0E-59C3-40E1-A2BA-D738C10752EE}" type="datetime1">
              <a:rPr lang="en-IN" smtClean="0"/>
              <a:t>13-04-2026</a:t>
            </a:fld>
            <a:endParaRPr lang="en-IN"/>
          </a:p>
        </p:txBody>
      </p:sp>
      <p:sp>
        <p:nvSpPr>
          <p:cNvPr id="5" name="Footer Placeholder 4">
            <a:extLst>
              <a:ext uri="{FF2B5EF4-FFF2-40B4-BE49-F238E27FC236}">
                <a16:creationId xmlns:a16="http://schemas.microsoft.com/office/drawing/2014/main" id="{94D9BD2E-5080-2173-9B11-7478F2ABF61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CA3EBA9-5803-8A80-0D68-A2CFDA1EBED3}"/>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4432858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695E1A33-A635-6E0A-574A-DDCD2E7F866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8431396-34B0-787D-1B1E-B6ED20BD342F}"/>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D3E24D3-DA6D-F05B-146E-C8113DC2913F}"/>
              </a:ext>
            </a:extLst>
          </p:cNvPr>
          <p:cNvSpPr>
            <a:spLocks noGrp="1"/>
          </p:cNvSpPr>
          <p:nvPr>
            <p:ph type="dt" sz="half" idx="10"/>
          </p:nvPr>
        </p:nvSpPr>
        <p:spPr/>
        <p:txBody>
          <a:bodyPr/>
          <a:lstStyle/>
          <a:p>
            <a:fld id="{CC5B2BD8-38A6-44FF-A96F-5841F76C1666}" type="datetime1">
              <a:rPr lang="en-IN" smtClean="0"/>
              <a:t>13-04-2026</a:t>
            </a:fld>
            <a:endParaRPr lang="en-IN"/>
          </a:p>
        </p:txBody>
      </p:sp>
      <p:sp>
        <p:nvSpPr>
          <p:cNvPr id="5" name="Footer Placeholder 4">
            <a:extLst>
              <a:ext uri="{FF2B5EF4-FFF2-40B4-BE49-F238E27FC236}">
                <a16:creationId xmlns:a16="http://schemas.microsoft.com/office/drawing/2014/main" id="{55D25EFA-FD70-107E-FC8E-43B668AE9BC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251F8AFB-F476-9295-EE51-D1B9C64E71D4}"/>
              </a:ext>
            </a:extLst>
          </p:cNvPr>
          <p:cNvSpPr>
            <a:spLocks noGrp="1"/>
          </p:cNvSpPr>
          <p:nvPr>
            <p:ph type="sldNum" sz="quarter" idx="12"/>
          </p:nvPr>
        </p:nvSpPr>
        <p:spPr/>
        <p:txBody>
          <a:bodyPr/>
          <a:lstStyle/>
          <a:p>
            <a:fld id="{C0193642-6B89-44F9-93BF-426518C66F90}" type="slidenum">
              <a:rPr lang="en-IN" smtClean="0"/>
              <a:t>‹#›</a:t>
            </a:fld>
            <a:endParaRPr lang="en-IN"/>
          </a:p>
        </p:txBody>
      </p:sp>
    </p:spTree>
    <p:extLst>
      <p:ext uri="{BB962C8B-B14F-4D97-AF65-F5344CB8AC3E}">
        <p14:creationId xmlns:p14="http://schemas.microsoft.com/office/powerpoint/2010/main" val="167537855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FBCBE10E-5919-994E-2275-55E3D58E310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D0DC4406-7D5E-FE96-13F7-B6D4A65B659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BEE268C7-3F73-41FA-E6A3-2692F9DC306F}"/>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535A3F9-E7DC-4DFF-97AD-181E3A4F9882}" type="datetime1">
              <a:rPr lang="en-IN" smtClean="0"/>
              <a:t>13-04-2026</a:t>
            </a:fld>
            <a:endParaRPr lang="en-IN"/>
          </a:p>
        </p:txBody>
      </p:sp>
      <p:sp>
        <p:nvSpPr>
          <p:cNvPr id="5" name="Footer Placeholder 4">
            <a:extLst>
              <a:ext uri="{FF2B5EF4-FFF2-40B4-BE49-F238E27FC236}">
                <a16:creationId xmlns:a16="http://schemas.microsoft.com/office/drawing/2014/main" id="{3EC83C98-0A99-CAA9-F12B-89939854D2A4}"/>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2B111B9D-251B-BEA8-7985-723B2C7BB02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0193642-6B89-44F9-93BF-426518C66F90}" type="slidenum">
              <a:rPr lang="en-IN" smtClean="0"/>
              <a:t>‹#›</a:t>
            </a:fld>
            <a:endParaRPr lang="en-IN"/>
          </a:p>
        </p:txBody>
      </p:sp>
    </p:spTree>
    <p:extLst>
      <p:ext uri="{BB962C8B-B14F-4D97-AF65-F5344CB8AC3E}">
        <p14:creationId xmlns:p14="http://schemas.microsoft.com/office/powerpoint/2010/main" val="396222375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2.xml"/><Relationship Id="rId4"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2.xml"/><Relationship Id="rId1" Type="http://schemas.openxmlformats.org/officeDocument/2006/relationships/slideLayout" Target="../slideLayouts/slideLayout2.xml"/><Relationship Id="rId4" Type="http://schemas.openxmlformats.org/officeDocument/2006/relationships/image" Target="../media/image15.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4F5E9EB-BABD-B03A-1B36-C3BA4D732B8E}"/>
              </a:ext>
            </a:extLst>
          </p:cNvPr>
          <p:cNvSpPr>
            <a:spLocks noGrp="1"/>
          </p:cNvSpPr>
          <p:nvPr>
            <p:ph type="ctrTitle"/>
          </p:nvPr>
        </p:nvSpPr>
        <p:spPr>
          <a:xfrm>
            <a:off x="1524000" y="1026318"/>
            <a:ext cx="9144000" cy="1655763"/>
          </a:xfrm>
        </p:spPr>
        <p:txBody>
          <a:bodyPr>
            <a:normAutofit/>
          </a:bodyPr>
          <a:lstStyle/>
          <a:p>
            <a:r>
              <a:rPr lang="en-US" sz="3600" b="1" dirty="0"/>
              <a:t>Neurosymbolic Program Synthesis: </a:t>
            </a:r>
            <a:br>
              <a:rPr lang="en-US" sz="3600" b="1" dirty="0"/>
            </a:br>
            <a:r>
              <a:rPr lang="en-US" sz="3600" b="1" dirty="0"/>
              <a:t>From Enumerative Search to LLM-Guided Methods</a:t>
            </a:r>
            <a:endParaRPr lang="en-IN" sz="3600" b="1" dirty="0"/>
          </a:p>
        </p:txBody>
      </p:sp>
      <p:sp>
        <p:nvSpPr>
          <p:cNvPr id="3" name="Subtitle 2">
            <a:extLst>
              <a:ext uri="{FF2B5EF4-FFF2-40B4-BE49-F238E27FC236}">
                <a16:creationId xmlns:a16="http://schemas.microsoft.com/office/drawing/2014/main" id="{42999E70-BF38-A4F1-A0B3-EDE85C198EBA}"/>
              </a:ext>
            </a:extLst>
          </p:cNvPr>
          <p:cNvSpPr>
            <a:spLocks noGrp="1"/>
          </p:cNvSpPr>
          <p:nvPr>
            <p:ph type="subTitle" idx="1"/>
          </p:nvPr>
        </p:nvSpPr>
        <p:spPr>
          <a:xfrm>
            <a:off x="1524000" y="2889518"/>
            <a:ext cx="9144000" cy="934337"/>
          </a:xfrm>
        </p:spPr>
        <p:txBody>
          <a:bodyPr/>
          <a:lstStyle/>
          <a:p>
            <a:r>
              <a:rPr lang="en-US" dirty="0"/>
              <a:t>Vanshika Singla</a:t>
            </a:r>
          </a:p>
          <a:p>
            <a:r>
              <a:rPr lang="en-US" dirty="0"/>
              <a:t>4/13/2026</a:t>
            </a:r>
            <a:endParaRPr lang="en-IN" dirty="0"/>
          </a:p>
        </p:txBody>
      </p:sp>
      <p:pic>
        <p:nvPicPr>
          <p:cNvPr id="1026" name="Picture 2" descr="Inline suggestions from GitHub Copilot in VS Code">
            <a:extLst>
              <a:ext uri="{FF2B5EF4-FFF2-40B4-BE49-F238E27FC236}">
                <a16:creationId xmlns:a16="http://schemas.microsoft.com/office/drawing/2014/main" id="{BCE6CF6C-1D14-C81B-BD1D-BBE247FF8C4F}"/>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8100" t="26586" b="11118"/>
          <a:stretch>
            <a:fillRect/>
          </a:stretch>
        </p:blipFill>
        <p:spPr bwMode="auto">
          <a:xfrm>
            <a:off x="6828592" y="4105677"/>
            <a:ext cx="5142733" cy="1135592"/>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4E06392D-7A71-A048-E732-9D39084BEE24}"/>
              </a:ext>
            </a:extLst>
          </p:cNvPr>
          <p:cNvPicPr>
            <a:picLocks noChangeAspect="1"/>
          </p:cNvPicPr>
          <p:nvPr/>
        </p:nvPicPr>
        <p:blipFill>
          <a:blip r:embed="rId4"/>
          <a:stretch>
            <a:fillRect/>
          </a:stretch>
        </p:blipFill>
        <p:spPr>
          <a:xfrm>
            <a:off x="284090" y="4540244"/>
            <a:ext cx="3060528" cy="466676"/>
          </a:xfrm>
          <a:prstGeom prst="rect">
            <a:avLst/>
          </a:prstGeom>
        </p:spPr>
      </p:pic>
      <p:cxnSp>
        <p:nvCxnSpPr>
          <p:cNvPr id="10" name="Straight Arrow Connector 9">
            <a:extLst>
              <a:ext uri="{FF2B5EF4-FFF2-40B4-BE49-F238E27FC236}">
                <a16:creationId xmlns:a16="http://schemas.microsoft.com/office/drawing/2014/main" id="{A326CCE4-B588-2B69-4E15-B232D7A35B9B}"/>
              </a:ext>
            </a:extLst>
          </p:cNvPr>
          <p:cNvCxnSpPr/>
          <p:nvPr/>
        </p:nvCxnSpPr>
        <p:spPr>
          <a:xfrm>
            <a:off x="3688285" y="4773582"/>
            <a:ext cx="2902759" cy="0"/>
          </a:xfrm>
          <a:prstGeom prst="straightConnector1">
            <a:avLst/>
          </a:prstGeom>
          <a:ln>
            <a:tailEnd type="triangle"/>
          </a:ln>
        </p:spPr>
        <p:style>
          <a:lnRef idx="1">
            <a:schemeClr val="accent1"/>
          </a:lnRef>
          <a:fillRef idx="0">
            <a:schemeClr val="accent1"/>
          </a:fillRef>
          <a:effectRef idx="0">
            <a:schemeClr val="accent1"/>
          </a:effectRef>
          <a:fontRef idx="minor">
            <a:schemeClr val="tx1"/>
          </a:fontRef>
        </p:style>
      </p:cxnSp>
      <p:sp>
        <p:nvSpPr>
          <p:cNvPr id="11" name="TextBox 10">
            <a:extLst>
              <a:ext uri="{FF2B5EF4-FFF2-40B4-BE49-F238E27FC236}">
                <a16:creationId xmlns:a16="http://schemas.microsoft.com/office/drawing/2014/main" id="{AA96C261-2404-86B8-0921-0DB86C1C45FC}"/>
              </a:ext>
            </a:extLst>
          </p:cNvPr>
          <p:cNvSpPr txBox="1"/>
          <p:nvPr/>
        </p:nvSpPr>
        <p:spPr>
          <a:xfrm>
            <a:off x="4349717" y="4465805"/>
            <a:ext cx="2241327" cy="307777"/>
          </a:xfrm>
          <a:prstGeom prst="rect">
            <a:avLst/>
          </a:prstGeom>
          <a:noFill/>
        </p:spPr>
        <p:txBody>
          <a:bodyPr wrap="square" rtlCol="0">
            <a:spAutoFit/>
          </a:bodyPr>
          <a:lstStyle/>
          <a:p>
            <a:r>
              <a:rPr lang="en-US" sz="1400" dirty="0"/>
              <a:t>20 Years of Research</a:t>
            </a:r>
            <a:endParaRPr lang="en-IN" sz="1400" dirty="0"/>
          </a:p>
        </p:txBody>
      </p:sp>
    </p:spTree>
    <p:extLst>
      <p:ext uri="{BB962C8B-B14F-4D97-AF65-F5344CB8AC3E}">
        <p14:creationId xmlns:p14="http://schemas.microsoft.com/office/powerpoint/2010/main" val="15527599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933B39-D4DE-119A-9667-7965CA257C2F}"/>
              </a:ext>
            </a:extLst>
          </p:cNvPr>
          <p:cNvSpPr>
            <a:spLocks noGrp="1"/>
          </p:cNvSpPr>
          <p:nvPr>
            <p:ph type="title"/>
          </p:nvPr>
        </p:nvSpPr>
        <p:spPr/>
        <p:txBody>
          <a:bodyPr>
            <a:normAutofit/>
          </a:bodyPr>
          <a:lstStyle/>
          <a:p>
            <a:r>
              <a:rPr lang="en-US" sz="3200" b="1" dirty="0"/>
              <a:t>What is Program Synthesis?</a:t>
            </a:r>
            <a:endParaRPr lang="en-IN" sz="3200" b="1" dirty="0"/>
          </a:p>
        </p:txBody>
      </p:sp>
      <p:sp>
        <p:nvSpPr>
          <p:cNvPr id="3" name="Content Placeholder 2">
            <a:extLst>
              <a:ext uri="{FF2B5EF4-FFF2-40B4-BE49-F238E27FC236}">
                <a16:creationId xmlns:a16="http://schemas.microsoft.com/office/drawing/2014/main" id="{712E86AC-DDC7-2293-449B-3C46BF56C693}"/>
              </a:ext>
            </a:extLst>
          </p:cNvPr>
          <p:cNvSpPr>
            <a:spLocks noGrp="1"/>
          </p:cNvSpPr>
          <p:nvPr>
            <p:ph idx="1"/>
          </p:nvPr>
        </p:nvSpPr>
        <p:spPr/>
        <p:txBody>
          <a:bodyPr>
            <a:normAutofit/>
          </a:bodyPr>
          <a:lstStyle/>
          <a:p>
            <a:r>
              <a:rPr lang="en-US" sz="2400" dirty="0"/>
              <a:t>Automatically generating a program from a description of what it should do</a:t>
            </a:r>
            <a:endParaRPr lang="en-IN" sz="2400" dirty="0"/>
          </a:p>
        </p:txBody>
      </p:sp>
      <p:pic>
        <p:nvPicPr>
          <p:cNvPr id="5" name="Picture 4">
            <a:extLst>
              <a:ext uri="{FF2B5EF4-FFF2-40B4-BE49-F238E27FC236}">
                <a16:creationId xmlns:a16="http://schemas.microsoft.com/office/drawing/2014/main" id="{179AD56B-3C41-9AE4-06B4-2F877F47A119}"/>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838202" y="2317997"/>
            <a:ext cx="6810004" cy="4540003"/>
          </a:xfrm>
          <a:prstGeom prst="rect">
            <a:avLst/>
          </a:prstGeom>
        </p:spPr>
      </p:pic>
      <p:sp>
        <p:nvSpPr>
          <p:cNvPr id="4" name="Rectangle 3">
            <a:extLst>
              <a:ext uri="{FF2B5EF4-FFF2-40B4-BE49-F238E27FC236}">
                <a16:creationId xmlns:a16="http://schemas.microsoft.com/office/drawing/2014/main" id="{F479152C-09BD-8426-1610-EF1F95315C4A}"/>
              </a:ext>
            </a:extLst>
          </p:cNvPr>
          <p:cNvSpPr/>
          <p:nvPr/>
        </p:nvSpPr>
        <p:spPr>
          <a:xfrm>
            <a:off x="3550722" y="2553195"/>
            <a:ext cx="4750130" cy="1686296"/>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4DC5A950-07B0-D997-9714-D8D17BA6593E}"/>
              </a:ext>
            </a:extLst>
          </p:cNvPr>
          <p:cNvSpPr/>
          <p:nvPr/>
        </p:nvSpPr>
        <p:spPr>
          <a:xfrm>
            <a:off x="3087584" y="4892634"/>
            <a:ext cx="6377050" cy="1284329"/>
          </a:xfrm>
          <a:prstGeom prst="rect">
            <a:avLst/>
          </a:prstGeom>
          <a:noFill/>
          <a:ln w="1905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Slide Number Placeholder 6">
            <a:extLst>
              <a:ext uri="{FF2B5EF4-FFF2-40B4-BE49-F238E27FC236}">
                <a16:creationId xmlns:a16="http://schemas.microsoft.com/office/drawing/2014/main" id="{E34B22C0-1A9F-14EA-F397-07BF683F8A87}"/>
              </a:ext>
            </a:extLst>
          </p:cNvPr>
          <p:cNvSpPr>
            <a:spLocks noGrp="1"/>
          </p:cNvSpPr>
          <p:nvPr>
            <p:ph type="sldNum" sz="quarter" idx="12"/>
          </p:nvPr>
        </p:nvSpPr>
        <p:spPr/>
        <p:txBody>
          <a:bodyPr/>
          <a:lstStyle/>
          <a:p>
            <a:fld id="{C0193642-6B89-44F9-93BF-426518C66F90}" type="slidenum">
              <a:rPr lang="en-IN" smtClean="0"/>
              <a:t>2</a:t>
            </a:fld>
            <a:endParaRPr lang="en-IN"/>
          </a:p>
        </p:txBody>
      </p:sp>
    </p:spTree>
    <p:extLst>
      <p:ext uri="{BB962C8B-B14F-4D97-AF65-F5344CB8AC3E}">
        <p14:creationId xmlns:p14="http://schemas.microsoft.com/office/powerpoint/2010/main" val="323490336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animBg="1"/>
      <p:bldP spid="6"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528149-BF98-8C8F-EF34-B06775DA450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C9E867-B983-B26B-29D4-8D410A1E2104}"/>
              </a:ext>
            </a:extLst>
          </p:cNvPr>
          <p:cNvSpPr>
            <a:spLocks noGrp="1"/>
          </p:cNvSpPr>
          <p:nvPr>
            <p:ph type="title"/>
          </p:nvPr>
        </p:nvSpPr>
        <p:spPr/>
        <p:txBody>
          <a:bodyPr>
            <a:normAutofit/>
          </a:bodyPr>
          <a:lstStyle/>
          <a:p>
            <a:r>
              <a:rPr lang="en-IN" sz="3200" b="1" dirty="0"/>
              <a:t>Why Is It Hard?</a:t>
            </a:r>
          </a:p>
        </p:txBody>
      </p:sp>
      <p:sp>
        <p:nvSpPr>
          <p:cNvPr id="3" name="Content Placeholder 2">
            <a:extLst>
              <a:ext uri="{FF2B5EF4-FFF2-40B4-BE49-F238E27FC236}">
                <a16:creationId xmlns:a16="http://schemas.microsoft.com/office/drawing/2014/main" id="{B2CA06F0-1588-157A-4D54-0C2C2645BED0}"/>
              </a:ext>
            </a:extLst>
          </p:cNvPr>
          <p:cNvSpPr>
            <a:spLocks noGrp="1"/>
          </p:cNvSpPr>
          <p:nvPr>
            <p:ph idx="1"/>
          </p:nvPr>
        </p:nvSpPr>
        <p:spPr>
          <a:xfrm>
            <a:off x="838200" y="1825625"/>
            <a:ext cx="3615047" cy="4351338"/>
          </a:xfrm>
        </p:spPr>
        <p:txBody>
          <a:bodyPr>
            <a:normAutofit/>
          </a:bodyPr>
          <a:lstStyle/>
          <a:p>
            <a:pPr marL="0" indent="0">
              <a:buNone/>
            </a:pPr>
            <a:r>
              <a:rPr lang="en-US" sz="1800" dirty="0"/>
              <a:t>1. The search space is enormous</a:t>
            </a:r>
          </a:p>
          <a:p>
            <a:pPr marL="0" indent="0">
              <a:buNone/>
            </a:pPr>
            <a:endParaRPr lang="en-US" sz="1800" dirty="0"/>
          </a:p>
          <a:p>
            <a:pPr marL="0" indent="0">
              <a:buNone/>
            </a:pPr>
            <a:endParaRPr lang="en-US" sz="1800" dirty="0"/>
          </a:p>
          <a:p>
            <a:pPr marL="457200" indent="-457200">
              <a:buFont typeface="+mj-lt"/>
              <a:buAutoNum type="arabicPeriod"/>
            </a:pPr>
            <a:endParaRPr lang="en-US" sz="1800" dirty="0"/>
          </a:p>
          <a:p>
            <a:pPr marL="457200" indent="-457200">
              <a:buFont typeface="+mj-lt"/>
              <a:buAutoNum type="arabicPeriod"/>
            </a:pPr>
            <a:endParaRPr lang="en-US" sz="1800" dirty="0"/>
          </a:p>
          <a:p>
            <a:pPr marL="0" indent="0">
              <a:buNone/>
            </a:pPr>
            <a:endParaRPr lang="en-US" sz="2400" dirty="0"/>
          </a:p>
          <a:p>
            <a:pPr marL="0" indent="0">
              <a:buNone/>
            </a:pPr>
            <a:endParaRPr lang="en-US" sz="2400" dirty="0"/>
          </a:p>
          <a:p>
            <a:pPr marL="0" indent="0">
              <a:buNone/>
            </a:pPr>
            <a:r>
              <a:rPr lang="en-US" sz="1800" dirty="0"/>
              <a:t>Even simple examples are consistent with infinitely many programs</a:t>
            </a:r>
          </a:p>
        </p:txBody>
      </p:sp>
      <p:pic>
        <p:nvPicPr>
          <p:cNvPr id="10" name="Picture 9">
            <a:extLst>
              <a:ext uri="{FF2B5EF4-FFF2-40B4-BE49-F238E27FC236}">
                <a16:creationId xmlns:a16="http://schemas.microsoft.com/office/drawing/2014/main" id="{2CD200C9-4F23-C95F-8554-3B853AB389A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45486" y="2471956"/>
            <a:ext cx="2644213" cy="1763423"/>
          </a:xfrm>
          <a:prstGeom prst="rect">
            <a:avLst/>
          </a:prstGeom>
        </p:spPr>
      </p:pic>
      <p:sp>
        <p:nvSpPr>
          <p:cNvPr id="15" name="TextBox 14">
            <a:extLst>
              <a:ext uri="{FF2B5EF4-FFF2-40B4-BE49-F238E27FC236}">
                <a16:creationId xmlns:a16="http://schemas.microsoft.com/office/drawing/2014/main" id="{F727E287-CC47-0AD9-5026-BA0827370761}"/>
              </a:ext>
            </a:extLst>
          </p:cNvPr>
          <p:cNvSpPr txBox="1"/>
          <p:nvPr/>
        </p:nvSpPr>
        <p:spPr>
          <a:xfrm>
            <a:off x="4667004" y="1825625"/>
            <a:ext cx="3615048" cy="3970318"/>
          </a:xfrm>
          <a:prstGeom prst="rect">
            <a:avLst/>
          </a:prstGeom>
          <a:noFill/>
        </p:spPr>
        <p:txBody>
          <a:bodyPr wrap="square" rtlCol="0">
            <a:spAutoFit/>
          </a:bodyPr>
          <a:lstStyle/>
          <a:p>
            <a:r>
              <a:rPr lang="en-US" dirty="0"/>
              <a:t>  2. User intent is ambiguous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Which one did the user actually want?</a:t>
            </a:r>
          </a:p>
          <a:p>
            <a:endParaRPr lang="en-US" dirty="0"/>
          </a:p>
          <a:p>
            <a:endParaRPr lang="en-IN" dirty="0"/>
          </a:p>
        </p:txBody>
      </p:sp>
      <p:sp>
        <p:nvSpPr>
          <p:cNvPr id="16" name="TextBox 15">
            <a:extLst>
              <a:ext uri="{FF2B5EF4-FFF2-40B4-BE49-F238E27FC236}">
                <a16:creationId xmlns:a16="http://schemas.microsoft.com/office/drawing/2014/main" id="{83D24B29-00D1-DFFF-9E32-885A45A84F92}"/>
              </a:ext>
            </a:extLst>
          </p:cNvPr>
          <p:cNvSpPr txBox="1"/>
          <p:nvPr/>
        </p:nvSpPr>
        <p:spPr>
          <a:xfrm>
            <a:off x="8495810" y="1825625"/>
            <a:ext cx="3462642" cy="4247317"/>
          </a:xfrm>
          <a:prstGeom prst="rect">
            <a:avLst/>
          </a:prstGeom>
          <a:noFill/>
        </p:spPr>
        <p:txBody>
          <a:bodyPr wrap="square" rtlCol="0">
            <a:spAutoFit/>
          </a:bodyPr>
          <a:lstStyle/>
          <a:p>
            <a:r>
              <a:rPr lang="en-US" dirty="0"/>
              <a:t>3. Correctness is hard to guarantee</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Neural methods are powerful but offer no formal guarantees</a:t>
            </a:r>
          </a:p>
          <a:p>
            <a:endParaRPr lang="en-US" dirty="0"/>
          </a:p>
          <a:p>
            <a:endParaRPr lang="en-US" dirty="0"/>
          </a:p>
          <a:p>
            <a:endParaRPr lang="en-IN" dirty="0"/>
          </a:p>
        </p:txBody>
      </p:sp>
      <p:pic>
        <p:nvPicPr>
          <p:cNvPr id="19" name="Picture 18">
            <a:extLst>
              <a:ext uri="{FF2B5EF4-FFF2-40B4-BE49-F238E27FC236}">
                <a16:creationId xmlns:a16="http://schemas.microsoft.com/office/drawing/2014/main" id="{18A62160-6122-34E0-25BB-8D16D89828E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8343405" y="2223984"/>
            <a:ext cx="3615047" cy="2410031"/>
          </a:xfrm>
          <a:prstGeom prst="rect">
            <a:avLst/>
          </a:prstGeom>
        </p:spPr>
      </p:pic>
      <p:pic>
        <p:nvPicPr>
          <p:cNvPr id="20" name="Picture 19">
            <a:extLst>
              <a:ext uri="{FF2B5EF4-FFF2-40B4-BE49-F238E27FC236}">
                <a16:creationId xmlns:a16="http://schemas.microsoft.com/office/drawing/2014/main" id="{DEE0F993-C847-CE79-285D-95EFDB66A071}"/>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667004" y="2471956"/>
            <a:ext cx="3226495" cy="2150997"/>
          </a:xfrm>
          <a:prstGeom prst="rect">
            <a:avLst/>
          </a:prstGeom>
        </p:spPr>
      </p:pic>
      <p:cxnSp>
        <p:nvCxnSpPr>
          <p:cNvPr id="7" name="Straight Connector 6">
            <a:extLst>
              <a:ext uri="{FF2B5EF4-FFF2-40B4-BE49-F238E27FC236}">
                <a16:creationId xmlns:a16="http://schemas.microsoft.com/office/drawing/2014/main" id="{222B0C99-DCB8-7B6F-D346-3D1831A5EC0D}"/>
              </a:ext>
            </a:extLst>
          </p:cNvPr>
          <p:cNvCxnSpPr/>
          <p:nvPr/>
        </p:nvCxnSpPr>
        <p:spPr>
          <a:xfrm>
            <a:off x="4524375" y="1476375"/>
            <a:ext cx="0" cy="43195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15B10298-C636-283A-E708-88FA66AF8AC7}"/>
              </a:ext>
            </a:extLst>
          </p:cNvPr>
          <p:cNvCxnSpPr/>
          <p:nvPr/>
        </p:nvCxnSpPr>
        <p:spPr>
          <a:xfrm>
            <a:off x="8276730" y="1476375"/>
            <a:ext cx="0" cy="4319568"/>
          </a:xfrm>
          <a:prstGeom prst="line">
            <a:avLst/>
          </a:prstGeom>
          <a:ln w="19050">
            <a:solidFill>
              <a:schemeClr val="tx1"/>
            </a:solidFill>
          </a:ln>
        </p:spPr>
        <p:style>
          <a:lnRef idx="1">
            <a:schemeClr val="accent1"/>
          </a:lnRef>
          <a:fillRef idx="0">
            <a:schemeClr val="accent1"/>
          </a:fillRef>
          <a:effectRef idx="0">
            <a:schemeClr val="accent1"/>
          </a:effectRef>
          <a:fontRef idx="minor">
            <a:schemeClr val="tx1"/>
          </a:fontRef>
        </p:style>
      </p:cxnSp>
      <p:sp>
        <p:nvSpPr>
          <p:cNvPr id="14" name="Slide Number Placeholder 13">
            <a:extLst>
              <a:ext uri="{FF2B5EF4-FFF2-40B4-BE49-F238E27FC236}">
                <a16:creationId xmlns:a16="http://schemas.microsoft.com/office/drawing/2014/main" id="{0F3D00DE-506B-0985-2C84-DFC3E784F062}"/>
              </a:ext>
            </a:extLst>
          </p:cNvPr>
          <p:cNvSpPr>
            <a:spLocks noGrp="1"/>
          </p:cNvSpPr>
          <p:nvPr>
            <p:ph type="sldNum" sz="quarter" idx="12"/>
          </p:nvPr>
        </p:nvSpPr>
        <p:spPr/>
        <p:txBody>
          <a:bodyPr/>
          <a:lstStyle/>
          <a:p>
            <a:fld id="{C0193642-6B89-44F9-93BF-426518C66F90}" type="slidenum">
              <a:rPr lang="en-IN" smtClean="0"/>
              <a:t>3</a:t>
            </a:fld>
            <a:endParaRPr lang="en-IN"/>
          </a:p>
        </p:txBody>
      </p:sp>
    </p:spTree>
    <p:extLst>
      <p:ext uri="{BB962C8B-B14F-4D97-AF65-F5344CB8AC3E}">
        <p14:creationId xmlns:p14="http://schemas.microsoft.com/office/powerpoint/2010/main" val="3567024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7" end="7"/>
                                            </p:txEl>
                                          </p:spTgt>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0"/>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15">
                                            <p:txEl>
                                              <p:pRg st="0" end="0"/>
                                            </p:txEl>
                                          </p:spTgt>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5">
                                            <p:txEl>
                                              <p:pRg st="10" end="10"/>
                                            </p:txEl>
                                          </p:spTgt>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20"/>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childTnLst>
                                </p:cTn>
                              </p:par>
                            </p:childTnLst>
                          </p:cTn>
                        </p:par>
                      </p:childTnLst>
                    </p:cTn>
                  </p:par>
                  <p:par>
                    <p:cTn id="29" fill="hold">
                      <p:stCondLst>
                        <p:cond delay="indefinite"/>
                      </p:stCondLst>
                      <p:childTnLst>
                        <p:par>
                          <p:cTn id="30" fill="hold">
                            <p:stCondLst>
                              <p:cond delay="0"/>
                            </p:stCondLst>
                            <p:childTnLst>
                              <p:par>
                                <p:cTn id="31" presetID="1" presetClass="entr" presetSubtype="0" fill="hold" grpId="0" nodeType="clickEffect">
                                  <p:stCondLst>
                                    <p:cond delay="0"/>
                                  </p:stCondLst>
                                  <p:childTnLst>
                                    <p:set>
                                      <p:cBhvr>
                                        <p:cTn id="32" dur="1" fill="hold">
                                          <p:stCondLst>
                                            <p:cond delay="0"/>
                                          </p:stCondLst>
                                        </p:cTn>
                                        <p:tgtEl>
                                          <p:spTgt spid="16">
                                            <p:txEl>
                                              <p:pRg st="0" end="0"/>
                                            </p:txEl>
                                          </p:spTgt>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16">
                                            <p:txEl>
                                              <p:pRg st="10" end="10"/>
                                            </p:txEl>
                                          </p:spTgt>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1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P spid="15" grpId="0" build="allAtOnce"/>
      <p:bldP spid="16" grpId="0" build="allAtOnce"/>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EA44F4-7B54-BEF8-089A-F54101E4BAC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B1CB04A-6B8D-853B-B9EC-46043D3E7B64}"/>
              </a:ext>
            </a:extLst>
          </p:cNvPr>
          <p:cNvSpPr>
            <a:spLocks noGrp="1"/>
          </p:cNvSpPr>
          <p:nvPr>
            <p:ph type="title"/>
          </p:nvPr>
        </p:nvSpPr>
        <p:spPr/>
        <p:txBody>
          <a:bodyPr>
            <a:normAutofit/>
          </a:bodyPr>
          <a:lstStyle/>
          <a:p>
            <a:r>
              <a:rPr lang="en-IN" sz="3200" b="1" dirty="0"/>
              <a:t>Why Does It Matter?</a:t>
            </a:r>
          </a:p>
        </p:txBody>
      </p:sp>
      <p:pic>
        <p:nvPicPr>
          <p:cNvPr id="2050" name="Picture 2" descr="How to use Flash Fill in Excel with examples">
            <a:extLst>
              <a:ext uri="{FF2B5EF4-FFF2-40B4-BE49-F238E27FC236}">
                <a16:creationId xmlns:a16="http://schemas.microsoft.com/office/drawing/2014/main" id="{A42D7BB6-559E-B8B5-F68A-30D84F65E6FE}"/>
              </a:ext>
            </a:extLst>
          </p:cNvPr>
          <p:cNvPicPr>
            <a:picLocks noGrp="1" noChangeAspect="1" noChangeArrowheads="1"/>
          </p:cNvPicPr>
          <p:nvPr>
            <p:ph idx="1"/>
          </p:nvPr>
        </p:nvPicPr>
        <p:blipFill>
          <a:blip r:embed="rId3">
            <a:extLst>
              <a:ext uri="{28A0092B-C50C-407E-A947-70E740481C1C}">
                <a14:useLocalDpi xmlns:a14="http://schemas.microsoft.com/office/drawing/2010/main" val="0"/>
              </a:ext>
            </a:extLst>
          </a:blip>
          <a:srcRect/>
          <a:stretch>
            <a:fillRect/>
          </a:stretch>
        </p:blipFill>
        <p:spPr bwMode="auto">
          <a:xfrm>
            <a:off x="838200" y="1723345"/>
            <a:ext cx="4836260" cy="2658650"/>
          </a:xfrm>
          <a:prstGeom prst="rect">
            <a:avLst/>
          </a:prstGeom>
          <a:noFill/>
          <a:extLst>
            <a:ext uri="{909E8E84-426E-40DD-AFC4-6F175D3DCCD1}">
              <a14:hiddenFill xmlns:a14="http://schemas.microsoft.com/office/drawing/2010/main">
                <a:solidFill>
                  <a:srgbClr val="FFFFFF"/>
                </a:solidFill>
              </a14:hiddenFill>
            </a:ext>
          </a:extLst>
        </p:spPr>
      </p:pic>
      <p:pic>
        <p:nvPicPr>
          <p:cNvPr id="2052" name="Picture 4" descr="Getting code suggestions in your IDE with GitHub Copilot - GitHub Docs">
            <a:extLst>
              <a:ext uri="{FF2B5EF4-FFF2-40B4-BE49-F238E27FC236}">
                <a16:creationId xmlns:a16="http://schemas.microsoft.com/office/drawing/2014/main" id="{59BF0075-9FC1-BF21-8307-76B95823552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36464" y="1841283"/>
            <a:ext cx="5017336" cy="2540712"/>
          </a:xfrm>
          <a:prstGeom prst="rect">
            <a:avLst/>
          </a:prstGeom>
          <a:noFill/>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D8480B08-CE19-5276-9636-03B2FD04422F}"/>
              </a:ext>
            </a:extLst>
          </p:cNvPr>
          <p:cNvSpPr txBox="1"/>
          <p:nvPr/>
        </p:nvSpPr>
        <p:spPr>
          <a:xfrm>
            <a:off x="1306286" y="4488873"/>
            <a:ext cx="3515096" cy="646331"/>
          </a:xfrm>
          <a:prstGeom prst="rect">
            <a:avLst/>
          </a:prstGeom>
          <a:noFill/>
        </p:spPr>
        <p:txBody>
          <a:bodyPr wrap="square" rtlCol="0">
            <a:spAutoFit/>
          </a:bodyPr>
          <a:lstStyle/>
          <a:p>
            <a:pPr algn="ctr"/>
            <a:r>
              <a:rPr lang="en-US" dirty="0"/>
              <a:t>Excel </a:t>
            </a:r>
            <a:r>
              <a:rPr lang="en-US" dirty="0" err="1"/>
              <a:t>FlashFill</a:t>
            </a:r>
            <a:endParaRPr lang="en-US" dirty="0"/>
          </a:p>
          <a:p>
            <a:pPr algn="ctr"/>
            <a:r>
              <a:rPr lang="en-US" dirty="0"/>
              <a:t>ships to 1 billion+ Office users</a:t>
            </a:r>
            <a:endParaRPr lang="en-IN" dirty="0"/>
          </a:p>
        </p:txBody>
      </p:sp>
      <p:sp>
        <p:nvSpPr>
          <p:cNvPr id="6" name="TextBox 5">
            <a:extLst>
              <a:ext uri="{FF2B5EF4-FFF2-40B4-BE49-F238E27FC236}">
                <a16:creationId xmlns:a16="http://schemas.microsoft.com/office/drawing/2014/main" id="{DAA86694-BA81-4E9E-D425-886F87743E7A}"/>
              </a:ext>
            </a:extLst>
          </p:cNvPr>
          <p:cNvSpPr txBox="1"/>
          <p:nvPr/>
        </p:nvSpPr>
        <p:spPr>
          <a:xfrm>
            <a:off x="7374577" y="4488873"/>
            <a:ext cx="3158836" cy="646331"/>
          </a:xfrm>
          <a:prstGeom prst="rect">
            <a:avLst/>
          </a:prstGeom>
          <a:noFill/>
        </p:spPr>
        <p:txBody>
          <a:bodyPr wrap="square" rtlCol="0">
            <a:spAutoFit/>
          </a:bodyPr>
          <a:lstStyle/>
          <a:p>
            <a:pPr algn="ctr"/>
            <a:r>
              <a:rPr lang="en-US" dirty="0"/>
              <a:t>GitHub Copilot</a:t>
            </a:r>
          </a:p>
          <a:p>
            <a:pPr algn="ctr"/>
            <a:r>
              <a:rPr lang="en-US" dirty="0"/>
              <a:t>used by 1.3 million developers</a:t>
            </a:r>
            <a:endParaRPr lang="en-IN" dirty="0"/>
          </a:p>
        </p:txBody>
      </p:sp>
      <p:sp>
        <p:nvSpPr>
          <p:cNvPr id="7" name="TextBox 6">
            <a:extLst>
              <a:ext uri="{FF2B5EF4-FFF2-40B4-BE49-F238E27FC236}">
                <a16:creationId xmlns:a16="http://schemas.microsoft.com/office/drawing/2014/main" id="{B0825664-7C31-FC4F-0647-49EFC48F36E1}"/>
              </a:ext>
            </a:extLst>
          </p:cNvPr>
          <p:cNvSpPr txBox="1"/>
          <p:nvPr/>
        </p:nvSpPr>
        <p:spPr>
          <a:xfrm>
            <a:off x="1009402" y="5593278"/>
            <a:ext cx="10664041" cy="461665"/>
          </a:xfrm>
          <a:prstGeom prst="rect">
            <a:avLst/>
          </a:prstGeom>
          <a:noFill/>
        </p:spPr>
        <p:txBody>
          <a:bodyPr wrap="square" rtlCol="0">
            <a:spAutoFit/>
          </a:bodyPr>
          <a:lstStyle/>
          <a:p>
            <a:pPr algn="ctr"/>
            <a:r>
              <a:rPr lang="en-US" sz="2400" dirty="0"/>
              <a:t>Program synthesis is not just a research idea. It is already in tools you use every day.</a:t>
            </a:r>
            <a:endParaRPr lang="en-IN" sz="2400" dirty="0"/>
          </a:p>
        </p:txBody>
      </p:sp>
      <p:sp>
        <p:nvSpPr>
          <p:cNvPr id="3" name="Slide Number Placeholder 2">
            <a:extLst>
              <a:ext uri="{FF2B5EF4-FFF2-40B4-BE49-F238E27FC236}">
                <a16:creationId xmlns:a16="http://schemas.microsoft.com/office/drawing/2014/main" id="{BCC7A9A2-1FFE-7B28-1DAE-09238454D6D1}"/>
              </a:ext>
            </a:extLst>
          </p:cNvPr>
          <p:cNvSpPr>
            <a:spLocks noGrp="1"/>
          </p:cNvSpPr>
          <p:nvPr>
            <p:ph type="sldNum" sz="quarter" idx="12"/>
          </p:nvPr>
        </p:nvSpPr>
        <p:spPr/>
        <p:txBody>
          <a:bodyPr/>
          <a:lstStyle/>
          <a:p>
            <a:fld id="{C0193642-6B89-44F9-93BF-426518C66F90}" type="slidenum">
              <a:rPr lang="en-IN" smtClean="0"/>
              <a:t>4</a:t>
            </a:fld>
            <a:endParaRPr lang="en-IN"/>
          </a:p>
        </p:txBody>
      </p:sp>
    </p:spTree>
    <p:extLst>
      <p:ext uri="{BB962C8B-B14F-4D97-AF65-F5344CB8AC3E}">
        <p14:creationId xmlns:p14="http://schemas.microsoft.com/office/powerpoint/2010/main" val="30860831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2050"/>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4"/>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2052"/>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6" grpId="0"/>
      <p:bldP spid="7"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CC8011D-9DBD-A101-1A90-4B12FC281F3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6FD7126-0494-B276-82E8-8EF532CA08FF}"/>
              </a:ext>
            </a:extLst>
          </p:cNvPr>
          <p:cNvSpPr>
            <a:spLocks noGrp="1"/>
          </p:cNvSpPr>
          <p:nvPr>
            <p:ph type="title"/>
          </p:nvPr>
        </p:nvSpPr>
        <p:spPr/>
        <p:txBody>
          <a:bodyPr>
            <a:normAutofit/>
          </a:bodyPr>
          <a:lstStyle/>
          <a:p>
            <a:r>
              <a:rPr lang="en-US" sz="3200" b="1" dirty="0"/>
              <a:t>Roadmap</a:t>
            </a:r>
            <a:endParaRPr lang="en-IN" sz="3200" b="1" dirty="0"/>
          </a:p>
        </p:txBody>
      </p:sp>
      <p:sp>
        <p:nvSpPr>
          <p:cNvPr id="3" name="Content Placeholder 2">
            <a:extLst>
              <a:ext uri="{FF2B5EF4-FFF2-40B4-BE49-F238E27FC236}">
                <a16:creationId xmlns:a16="http://schemas.microsoft.com/office/drawing/2014/main" id="{EDBDB60A-2B1B-30B4-D68E-58A8CB82D830}"/>
              </a:ext>
            </a:extLst>
          </p:cNvPr>
          <p:cNvSpPr>
            <a:spLocks noGrp="1"/>
          </p:cNvSpPr>
          <p:nvPr>
            <p:ph idx="1"/>
          </p:nvPr>
        </p:nvSpPr>
        <p:spPr/>
        <p:txBody>
          <a:bodyPr>
            <a:normAutofit lnSpcReduction="10000"/>
          </a:bodyPr>
          <a:lstStyle/>
          <a:p>
            <a:pPr lvl="0"/>
            <a:r>
              <a:rPr lang="en-IN" sz="2200" b="1" dirty="0"/>
              <a:t>Introduction:</a:t>
            </a:r>
            <a:r>
              <a:rPr lang="en-IN" sz="2200" dirty="0"/>
              <a:t> what is synthesis and why does it matter </a:t>
            </a:r>
          </a:p>
          <a:p>
            <a:pPr marL="0" lvl="0" indent="0">
              <a:buNone/>
            </a:pPr>
            <a:endParaRPr lang="en-IN" sz="2200" dirty="0"/>
          </a:p>
          <a:p>
            <a:pPr lvl="0"/>
            <a:r>
              <a:rPr lang="en-IN" sz="2200" b="1" dirty="0"/>
              <a:t>Solar-Lezama et al. (2006) — SKETCH</a:t>
            </a:r>
            <a:r>
              <a:rPr lang="en-IN" sz="2200" dirty="0"/>
              <a:t>: correctness-guaranteed synthesis without domain rules </a:t>
            </a:r>
          </a:p>
          <a:p>
            <a:pPr lvl="0"/>
            <a:r>
              <a:rPr lang="en-IN" sz="2200" b="1" dirty="0" err="1"/>
              <a:t>Gulwani</a:t>
            </a:r>
            <a:r>
              <a:rPr lang="en-IN" sz="2200" b="1" dirty="0"/>
              <a:t> (2011) — </a:t>
            </a:r>
            <a:r>
              <a:rPr lang="en-IN" sz="2200" b="1" dirty="0" err="1"/>
              <a:t>FlashFill</a:t>
            </a:r>
            <a:r>
              <a:rPr lang="en-IN" sz="2200" dirty="0"/>
              <a:t>: synthesis that reached hundreds of millions of users </a:t>
            </a:r>
          </a:p>
          <a:p>
            <a:pPr lvl="0"/>
            <a:r>
              <a:rPr lang="en-IN" sz="2200" b="1" dirty="0" err="1"/>
              <a:t>Gulwani</a:t>
            </a:r>
            <a:r>
              <a:rPr lang="en-IN" sz="2200" b="1" dirty="0"/>
              <a:t>, </a:t>
            </a:r>
            <a:r>
              <a:rPr lang="en-IN" sz="2200" b="1" dirty="0" err="1"/>
              <a:t>Polozov</a:t>
            </a:r>
            <a:r>
              <a:rPr lang="en-IN" sz="2200" b="1" dirty="0"/>
              <a:t>, Singh (2017) — Survey</a:t>
            </a:r>
            <a:r>
              <a:rPr lang="en-IN" sz="2200" dirty="0"/>
              <a:t>: mapping the landscape </a:t>
            </a:r>
          </a:p>
          <a:p>
            <a:pPr lvl="0"/>
            <a:r>
              <a:rPr lang="en-IN" sz="2200" b="1" dirty="0"/>
              <a:t>Ellis et al. (2021)</a:t>
            </a:r>
            <a:r>
              <a:rPr lang="en-IN" sz="2200" dirty="0"/>
              <a:t> </a:t>
            </a:r>
            <a:r>
              <a:rPr lang="en-IN" sz="2200" b="1" dirty="0"/>
              <a:t>— </a:t>
            </a:r>
            <a:r>
              <a:rPr lang="en-IN" sz="2200" b="1" dirty="0" err="1"/>
              <a:t>DreamCoder</a:t>
            </a:r>
            <a:r>
              <a:rPr lang="en-IN" sz="2200" dirty="0"/>
              <a:t>: synthesis that learns over time </a:t>
            </a:r>
            <a:r>
              <a:rPr lang="en-IN" sz="2400" dirty="0"/>
              <a:t>⭐</a:t>
            </a:r>
            <a:endParaRPr lang="en-IN" sz="2200" dirty="0"/>
          </a:p>
          <a:p>
            <a:pPr lvl="0"/>
            <a:r>
              <a:rPr lang="en-IN" sz="2200" b="1" dirty="0"/>
              <a:t>Chen et al. (2021) — Codex</a:t>
            </a:r>
            <a:r>
              <a:rPr lang="en-IN" sz="2200" dirty="0"/>
              <a:t>: LLMs enter the picture </a:t>
            </a:r>
          </a:p>
          <a:p>
            <a:pPr lvl="0"/>
            <a:r>
              <a:rPr lang="en-IN" sz="2200" b="1" dirty="0"/>
              <a:t>Grand et al. (2024) — LILO</a:t>
            </a:r>
            <a:r>
              <a:rPr lang="en-IN" sz="2200" dirty="0"/>
              <a:t>: combining classical and neural </a:t>
            </a:r>
          </a:p>
          <a:p>
            <a:pPr marL="0" lvl="0" indent="0">
              <a:buNone/>
            </a:pPr>
            <a:endParaRPr lang="en-IN" sz="2200" dirty="0"/>
          </a:p>
          <a:p>
            <a:pPr lvl="0"/>
            <a:r>
              <a:rPr lang="en-IN" sz="2200" b="1" dirty="0"/>
              <a:t>Open problems and conclusion</a:t>
            </a:r>
          </a:p>
          <a:p>
            <a:endParaRPr lang="en-IN" sz="2400" dirty="0"/>
          </a:p>
        </p:txBody>
      </p:sp>
      <p:sp>
        <p:nvSpPr>
          <p:cNvPr id="4" name="Slide Number Placeholder 3">
            <a:extLst>
              <a:ext uri="{FF2B5EF4-FFF2-40B4-BE49-F238E27FC236}">
                <a16:creationId xmlns:a16="http://schemas.microsoft.com/office/drawing/2014/main" id="{6007B00C-C638-0A43-3D9B-2136820A4210}"/>
              </a:ext>
            </a:extLst>
          </p:cNvPr>
          <p:cNvSpPr>
            <a:spLocks noGrp="1"/>
          </p:cNvSpPr>
          <p:nvPr>
            <p:ph type="sldNum" sz="quarter" idx="12"/>
          </p:nvPr>
        </p:nvSpPr>
        <p:spPr/>
        <p:txBody>
          <a:bodyPr/>
          <a:lstStyle/>
          <a:p>
            <a:fld id="{C0193642-6B89-44F9-93BF-426518C66F90}" type="slidenum">
              <a:rPr lang="en-IN" smtClean="0"/>
              <a:t>5</a:t>
            </a:fld>
            <a:endParaRPr lang="en-IN"/>
          </a:p>
        </p:txBody>
      </p:sp>
    </p:spTree>
    <p:extLst>
      <p:ext uri="{BB962C8B-B14F-4D97-AF65-F5344CB8AC3E}">
        <p14:creationId xmlns:p14="http://schemas.microsoft.com/office/powerpoint/2010/main" val="35000809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6CE5CB9-B6C7-CA21-585C-F7B91DF3379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E55B7D-18B9-9F18-4CA9-66529983552E}"/>
              </a:ext>
            </a:extLst>
          </p:cNvPr>
          <p:cNvSpPr>
            <a:spLocks noGrp="1"/>
          </p:cNvSpPr>
          <p:nvPr>
            <p:ph type="title"/>
          </p:nvPr>
        </p:nvSpPr>
        <p:spPr/>
        <p:txBody>
          <a:bodyPr>
            <a:normAutofit/>
          </a:bodyPr>
          <a:lstStyle/>
          <a:p>
            <a:r>
              <a:rPr lang="en-US" sz="3200" b="1" dirty="0"/>
              <a:t>SKETCH (2006): Synthesis Without Domain Rules</a:t>
            </a:r>
            <a:endParaRPr lang="en-IN" sz="3200" b="1" dirty="0"/>
          </a:p>
        </p:txBody>
      </p:sp>
      <p:sp>
        <p:nvSpPr>
          <p:cNvPr id="3" name="Content Placeholder 2">
            <a:extLst>
              <a:ext uri="{FF2B5EF4-FFF2-40B4-BE49-F238E27FC236}">
                <a16:creationId xmlns:a16="http://schemas.microsoft.com/office/drawing/2014/main" id="{58572048-FB85-014E-D82A-6E52C68901DD}"/>
              </a:ext>
            </a:extLst>
          </p:cNvPr>
          <p:cNvSpPr>
            <a:spLocks noGrp="1"/>
          </p:cNvSpPr>
          <p:nvPr>
            <p:ph idx="1"/>
          </p:nvPr>
        </p:nvSpPr>
        <p:spPr/>
        <p:txBody>
          <a:bodyPr>
            <a:normAutofit/>
          </a:bodyPr>
          <a:lstStyle/>
          <a:p>
            <a:pPr marL="0" indent="0">
              <a:buNone/>
            </a:pPr>
            <a:r>
              <a:rPr lang="en-IN" sz="1900" b="1" dirty="0"/>
              <a:t>Problem:</a:t>
            </a:r>
            <a:endParaRPr lang="en-IN" sz="1900" dirty="0"/>
          </a:p>
          <a:p>
            <a:pPr lvl="0"/>
            <a:r>
              <a:rPr lang="en-IN" sz="1900" dirty="0"/>
              <a:t>Every synthesis tool before SKETCH needed hand-coded domain rules</a:t>
            </a:r>
          </a:p>
          <a:p>
            <a:pPr lvl="0"/>
            <a:r>
              <a:rPr lang="en-IN" sz="1900" dirty="0"/>
              <a:t>No general approach existed</a:t>
            </a:r>
          </a:p>
          <a:p>
            <a:pPr marL="0" lvl="0" indent="0">
              <a:buNone/>
            </a:pPr>
            <a:endParaRPr lang="en-IN" sz="1900" dirty="0"/>
          </a:p>
          <a:p>
            <a:pPr marL="0" indent="0">
              <a:buNone/>
            </a:pPr>
            <a:r>
              <a:rPr lang="en-IN" sz="1900" b="1" dirty="0"/>
              <a:t>Solution:</a:t>
            </a:r>
            <a:endParaRPr lang="en-IN" sz="1900" dirty="0"/>
          </a:p>
          <a:p>
            <a:pPr lvl="0"/>
            <a:r>
              <a:rPr lang="en-IN" sz="1900" dirty="0"/>
              <a:t>Programmer writes partial program with holes</a:t>
            </a:r>
          </a:p>
          <a:p>
            <a:pPr lvl="0"/>
            <a:r>
              <a:rPr lang="en-IN" sz="1900" dirty="0"/>
              <a:t>SAT-based search fills the holes</a:t>
            </a:r>
          </a:p>
          <a:p>
            <a:pPr lvl="0"/>
            <a:r>
              <a:rPr lang="en-IN" sz="1900" dirty="0"/>
              <a:t>Correctness guaranteed by construction</a:t>
            </a:r>
          </a:p>
          <a:p>
            <a:pPr lvl="0"/>
            <a:r>
              <a:rPr lang="en-IN" sz="1900" dirty="0"/>
              <a:t>Introduced CEGIS (</a:t>
            </a:r>
            <a:r>
              <a:rPr lang="en-US" sz="2000" dirty="0"/>
              <a:t>Counterexample Guided Inductive Synthesis)</a:t>
            </a:r>
            <a:r>
              <a:rPr lang="en-IN" sz="1900" dirty="0"/>
              <a:t>: </a:t>
            </a:r>
          </a:p>
          <a:p>
            <a:pPr marL="0" lvl="0" indent="0">
              <a:buNone/>
            </a:pPr>
            <a:r>
              <a:rPr lang="en-IN" sz="1900" dirty="0"/>
              <a:t>    generate candidate → test → counterexample → refine</a:t>
            </a:r>
          </a:p>
          <a:p>
            <a:pPr marL="0" lvl="0" indent="0">
              <a:buNone/>
            </a:pPr>
            <a:endParaRPr lang="en-IN" sz="1900" dirty="0"/>
          </a:p>
          <a:p>
            <a:pPr marL="0" indent="0">
              <a:buNone/>
            </a:pPr>
            <a:endParaRPr lang="en-IN" sz="2400" dirty="0"/>
          </a:p>
        </p:txBody>
      </p:sp>
      <p:pic>
        <p:nvPicPr>
          <p:cNvPr id="5" name="Picture 4">
            <a:extLst>
              <a:ext uri="{FF2B5EF4-FFF2-40B4-BE49-F238E27FC236}">
                <a16:creationId xmlns:a16="http://schemas.microsoft.com/office/drawing/2014/main" id="{E67E5216-C589-768B-39F2-05A6D42C4AA5}"/>
              </a:ext>
            </a:extLst>
          </p:cNvPr>
          <p:cNvPicPr>
            <a:picLocks noChangeAspect="1"/>
          </p:cNvPicPr>
          <p:nvPr/>
        </p:nvPicPr>
        <p:blipFill>
          <a:blip r:embed="rId3"/>
          <a:stretch>
            <a:fillRect/>
          </a:stretch>
        </p:blipFill>
        <p:spPr>
          <a:xfrm>
            <a:off x="7148945" y="2685524"/>
            <a:ext cx="4085112" cy="2230056"/>
          </a:xfrm>
          <a:prstGeom prst="rect">
            <a:avLst/>
          </a:prstGeom>
        </p:spPr>
      </p:pic>
      <p:sp>
        <p:nvSpPr>
          <p:cNvPr id="4" name="Slide Number Placeholder 3">
            <a:extLst>
              <a:ext uri="{FF2B5EF4-FFF2-40B4-BE49-F238E27FC236}">
                <a16:creationId xmlns:a16="http://schemas.microsoft.com/office/drawing/2014/main" id="{F25B21DF-A617-682A-3E86-D3F902BB968D}"/>
              </a:ext>
            </a:extLst>
          </p:cNvPr>
          <p:cNvSpPr>
            <a:spLocks noGrp="1"/>
          </p:cNvSpPr>
          <p:nvPr>
            <p:ph type="sldNum" sz="quarter" idx="12"/>
          </p:nvPr>
        </p:nvSpPr>
        <p:spPr/>
        <p:txBody>
          <a:bodyPr/>
          <a:lstStyle/>
          <a:p>
            <a:fld id="{C0193642-6B89-44F9-93BF-426518C66F90}" type="slidenum">
              <a:rPr lang="en-IN" smtClean="0"/>
              <a:t>6</a:t>
            </a:fld>
            <a:endParaRPr lang="en-IN"/>
          </a:p>
        </p:txBody>
      </p:sp>
    </p:spTree>
    <p:extLst>
      <p:ext uri="{BB962C8B-B14F-4D97-AF65-F5344CB8AC3E}">
        <p14:creationId xmlns:p14="http://schemas.microsoft.com/office/powerpoint/2010/main" val="20417559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1B7ED3-ACAC-FAE5-6C09-82F9AFE61A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2F7E07D-AEE0-8E51-1D3F-464D38EAD26D}"/>
              </a:ext>
            </a:extLst>
          </p:cNvPr>
          <p:cNvSpPr>
            <a:spLocks noGrp="1"/>
          </p:cNvSpPr>
          <p:nvPr>
            <p:ph type="title"/>
          </p:nvPr>
        </p:nvSpPr>
        <p:spPr/>
        <p:txBody>
          <a:bodyPr>
            <a:normAutofit/>
          </a:bodyPr>
          <a:lstStyle/>
          <a:p>
            <a:r>
              <a:rPr lang="en-IN" sz="3200" b="1" dirty="0"/>
              <a:t>SKETCH: Evaluation + Limitations</a:t>
            </a:r>
          </a:p>
        </p:txBody>
      </p:sp>
      <p:sp>
        <p:nvSpPr>
          <p:cNvPr id="3" name="Content Placeholder 2">
            <a:extLst>
              <a:ext uri="{FF2B5EF4-FFF2-40B4-BE49-F238E27FC236}">
                <a16:creationId xmlns:a16="http://schemas.microsoft.com/office/drawing/2014/main" id="{9F006B98-9E88-5FB4-BB0B-21A976261B82}"/>
              </a:ext>
            </a:extLst>
          </p:cNvPr>
          <p:cNvSpPr>
            <a:spLocks noGrp="1"/>
          </p:cNvSpPr>
          <p:nvPr>
            <p:ph idx="1"/>
          </p:nvPr>
        </p:nvSpPr>
        <p:spPr/>
        <p:txBody>
          <a:bodyPr>
            <a:normAutofit fontScale="77500" lnSpcReduction="20000"/>
          </a:bodyPr>
          <a:lstStyle/>
          <a:p>
            <a:pPr marL="0" indent="0">
              <a:buNone/>
            </a:pPr>
            <a:r>
              <a:rPr lang="en-IN" sz="2300" b="1" dirty="0"/>
              <a:t>Evaluation:</a:t>
            </a:r>
            <a:endParaRPr lang="en-IN" sz="2300" dirty="0"/>
          </a:p>
          <a:p>
            <a:pPr lvl="0"/>
            <a:r>
              <a:rPr lang="en-IN" sz="2300" dirty="0"/>
              <a:t>Synthesized complete AES encryption implementation </a:t>
            </a:r>
          </a:p>
          <a:p>
            <a:pPr lvl="0"/>
            <a:r>
              <a:rPr lang="en-IN" sz="2300" dirty="0"/>
              <a:t>SKETCH: 21.3ms vs OpenSSL: 19.6ms: less than 10% difference </a:t>
            </a:r>
          </a:p>
          <a:p>
            <a:pPr lvl="0"/>
            <a:r>
              <a:rPr lang="en-IN" sz="2300" dirty="0"/>
              <a:t>Original spec: 19,936ms:  SKETCH was 1000x faster </a:t>
            </a:r>
          </a:p>
          <a:p>
            <a:pPr lvl="0"/>
            <a:r>
              <a:rPr lang="en-IN" sz="2300" dirty="0" err="1"/>
              <a:t>MultiGrid</a:t>
            </a:r>
            <a:r>
              <a:rPr lang="en-IN" sz="2300" dirty="0"/>
              <a:t> kernel: completed in under 5 minutes</a:t>
            </a:r>
          </a:p>
          <a:p>
            <a:pPr marL="0" lvl="0" indent="0">
              <a:buNone/>
            </a:pPr>
            <a:endParaRPr lang="en-IN" sz="2300" dirty="0"/>
          </a:p>
          <a:p>
            <a:pPr marL="0" indent="0">
              <a:buNone/>
            </a:pPr>
            <a:r>
              <a:rPr lang="en-IN" sz="2300" b="1" dirty="0"/>
              <a:t>Limitations:</a:t>
            </a:r>
            <a:endParaRPr lang="en-IN" sz="2300" dirty="0"/>
          </a:p>
          <a:p>
            <a:pPr lvl="0"/>
            <a:r>
              <a:rPr lang="en-IN" sz="2300" dirty="0"/>
              <a:t>Programmer must understand algorithm to write a meaningful sketch </a:t>
            </a:r>
          </a:p>
          <a:p>
            <a:pPr lvl="0"/>
            <a:r>
              <a:rPr lang="en-IN" sz="2300" dirty="0"/>
              <a:t>Only works for finite programs: unbounded loops out of scope </a:t>
            </a:r>
          </a:p>
          <a:p>
            <a:pPr lvl="0"/>
            <a:r>
              <a:rPr lang="en-IN" sz="2300" dirty="0"/>
              <a:t>More holes = longer synthesis time</a:t>
            </a:r>
          </a:p>
          <a:p>
            <a:pPr lvl="0"/>
            <a:endParaRPr lang="en-IN" sz="2300" dirty="0"/>
          </a:p>
          <a:p>
            <a:pPr marL="0" lvl="0" indent="0">
              <a:buNone/>
            </a:pPr>
            <a:r>
              <a:rPr lang="en-US" sz="2300" dirty="0"/>
              <a:t>SKETCH proved correctness-guaranteed synthesis was possible. </a:t>
            </a:r>
          </a:p>
          <a:p>
            <a:pPr marL="0" lvl="0" indent="0">
              <a:buNone/>
            </a:pPr>
            <a:r>
              <a:rPr lang="en-US" sz="2300" dirty="0"/>
              <a:t>Next question: can it work without the programmer writing the sketch at all?</a:t>
            </a:r>
            <a:endParaRPr lang="en-IN" sz="2300" dirty="0"/>
          </a:p>
          <a:p>
            <a:pPr marL="0" indent="0">
              <a:buNone/>
            </a:pPr>
            <a:endParaRPr lang="en-IN" sz="1800" dirty="0"/>
          </a:p>
        </p:txBody>
      </p:sp>
      <p:pic>
        <p:nvPicPr>
          <p:cNvPr id="10" name="Picture 9">
            <a:extLst>
              <a:ext uri="{FF2B5EF4-FFF2-40B4-BE49-F238E27FC236}">
                <a16:creationId xmlns:a16="http://schemas.microsoft.com/office/drawing/2014/main" id="{8CB0E807-B740-6DBA-28FB-D160D246C087}"/>
              </a:ext>
            </a:extLst>
          </p:cNvPr>
          <p:cNvPicPr>
            <a:picLocks noChangeAspect="1"/>
          </p:cNvPicPr>
          <p:nvPr/>
        </p:nvPicPr>
        <p:blipFill>
          <a:blip r:embed="rId3"/>
          <a:stretch>
            <a:fillRect/>
          </a:stretch>
        </p:blipFill>
        <p:spPr>
          <a:xfrm>
            <a:off x="7941121" y="1986167"/>
            <a:ext cx="3846558" cy="3360677"/>
          </a:xfrm>
          <a:prstGeom prst="rect">
            <a:avLst/>
          </a:prstGeom>
        </p:spPr>
      </p:pic>
      <p:sp>
        <p:nvSpPr>
          <p:cNvPr id="11" name="Rectangle 10">
            <a:extLst>
              <a:ext uri="{FF2B5EF4-FFF2-40B4-BE49-F238E27FC236}">
                <a16:creationId xmlns:a16="http://schemas.microsoft.com/office/drawing/2014/main" id="{7CF69336-2827-2B8A-A16A-C016ABB27674}"/>
              </a:ext>
            </a:extLst>
          </p:cNvPr>
          <p:cNvSpPr/>
          <p:nvPr/>
        </p:nvSpPr>
        <p:spPr>
          <a:xfrm>
            <a:off x="8039595" y="2410691"/>
            <a:ext cx="1413163" cy="142504"/>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TextBox 11">
            <a:extLst>
              <a:ext uri="{FF2B5EF4-FFF2-40B4-BE49-F238E27FC236}">
                <a16:creationId xmlns:a16="http://schemas.microsoft.com/office/drawing/2014/main" id="{49390DCA-67E5-0317-0572-B17141324A0F}"/>
              </a:ext>
            </a:extLst>
          </p:cNvPr>
          <p:cNvSpPr txBox="1"/>
          <p:nvPr/>
        </p:nvSpPr>
        <p:spPr>
          <a:xfrm>
            <a:off x="8253351" y="1404573"/>
            <a:ext cx="2707574" cy="369332"/>
          </a:xfrm>
          <a:prstGeom prst="rect">
            <a:avLst/>
          </a:prstGeom>
          <a:noFill/>
        </p:spPr>
        <p:txBody>
          <a:bodyPr wrap="square" rtlCol="0">
            <a:spAutoFit/>
          </a:bodyPr>
          <a:lstStyle/>
          <a:p>
            <a:r>
              <a:rPr lang="en-IN" dirty="0">
                <a:solidFill>
                  <a:srgbClr val="FF0000"/>
                </a:solidFill>
              </a:rPr>
              <a:t>took 665 iterations to fill in</a:t>
            </a:r>
          </a:p>
        </p:txBody>
      </p:sp>
      <p:sp>
        <p:nvSpPr>
          <p:cNvPr id="14" name="Slide Number Placeholder 13">
            <a:extLst>
              <a:ext uri="{FF2B5EF4-FFF2-40B4-BE49-F238E27FC236}">
                <a16:creationId xmlns:a16="http://schemas.microsoft.com/office/drawing/2014/main" id="{92731D5F-7113-B612-DCB6-A852AEB99114}"/>
              </a:ext>
            </a:extLst>
          </p:cNvPr>
          <p:cNvSpPr>
            <a:spLocks noGrp="1"/>
          </p:cNvSpPr>
          <p:nvPr>
            <p:ph type="sldNum" sz="quarter" idx="12"/>
          </p:nvPr>
        </p:nvSpPr>
        <p:spPr/>
        <p:txBody>
          <a:bodyPr/>
          <a:lstStyle/>
          <a:p>
            <a:fld id="{C0193642-6B89-44F9-93BF-426518C66F90}" type="slidenum">
              <a:rPr lang="en-IN" smtClean="0"/>
              <a:t>7</a:t>
            </a:fld>
            <a:endParaRPr lang="en-IN"/>
          </a:p>
        </p:txBody>
      </p:sp>
    </p:spTree>
    <p:extLst>
      <p:ext uri="{BB962C8B-B14F-4D97-AF65-F5344CB8AC3E}">
        <p14:creationId xmlns:p14="http://schemas.microsoft.com/office/powerpoint/2010/main" val="156907300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65BBB6-A47A-8533-3B3D-1F605FEB8B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B0F3E24-67DA-D662-EF5F-F684637DB0E2}"/>
              </a:ext>
            </a:extLst>
          </p:cNvPr>
          <p:cNvSpPr>
            <a:spLocks noGrp="1"/>
          </p:cNvSpPr>
          <p:nvPr>
            <p:ph type="title"/>
          </p:nvPr>
        </p:nvSpPr>
        <p:spPr/>
        <p:txBody>
          <a:bodyPr>
            <a:normAutofit/>
          </a:bodyPr>
          <a:lstStyle/>
          <a:p>
            <a:r>
              <a:rPr lang="en-US" sz="3200" b="1" dirty="0" err="1"/>
              <a:t>FlashFill</a:t>
            </a:r>
            <a:r>
              <a:rPr lang="en-US" sz="3200" b="1" dirty="0"/>
              <a:t>: Synthesis for Real Users</a:t>
            </a:r>
            <a:endParaRPr lang="en-IN" sz="3200" b="1" dirty="0"/>
          </a:p>
        </p:txBody>
      </p:sp>
      <p:sp>
        <p:nvSpPr>
          <p:cNvPr id="3" name="Content Placeholder 2">
            <a:extLst>
              <a:ext uri="{FF2B5EF4-FFF2-40B4-BE49-F238E27FC236}">
                <a16:creationId xmlns:a16="http://schemas.microsoft.com/office/drawing/2014/main" id="{187851EC-E8E2-B599-9EE7-80EE9DBE772F}"/>
              </a:ext>
            </a:extLst>
          </p:cNvPr>
          <p:cNvSpPr>
            <a:spLocks noGrp="1"/>
          </p:cNvSpPr>
          <p:nvPr>
            <p:ph idx="1"/>
          </p:nvPr>
        </p:nvSpPr>
        <p:spPr>
          <a:xfrm>
            <a:off x="641268" y="1825625"/>
            <a:ext cx="10937174" cy="4667250"/>
          </a:xfrm>
        </p:spPr>
        <p:txBody>
          <a:bodyPr>
            <a:normAutofit fontScale="62500" lnSpcReduction="20000"/>
          </a:bodyPr>
          <a:lstStyle/>
          <a:p>
            <a:pPr marL="0" indent="0">
              <a:buNone/>
            </a:pPr>
            <a:r>
              <a:rPr lang="en-IN" b="1" dirty="0"/>
              <a:t>Problem + Solution:</a:t>
            </a:r>
            <a:endParaRPr lang="en-IN" dirty="0"/>
          </a:p>
          <a:p>
            <a:pPr lvl="0"/>
            <a:r>
              <a:rPr lang="en-IN" dirty="0"/>
              <a:t>Non-programmers reformatting spreadsheets constantly</a:t>
            </a:r>
          </a:p>
          <a:p>
            <a:pPr lvl="0"/>
            <a:r>
              <a:rPr lang="en-IN" dirty="0"/>
              <a:t>DSL for strings + version space algebras</a:t>
            </a:r>
          </a:p>
          <a:p>
            <a:pPr lvl="0"/>
            <a:r>
              <a:rPr lang="en-IN" dirty="0"/>
              <a:t>Runs in under one second while you type</a:t>
            </a:r>
          </a:p>
          <a:p>
            <a:pPr lvl="0"/>
            <a:r>
              <a:rPr lang="en-IN" dirty="0"/>
              <a:t>Example: "John Smith" → "J. Smith", "Jane Doe" → "J. Doe“</a:t>
            </a:r>
          </a:p>
          <a:p>
            <a:pPr marL="0" indent="0">
              <a:buNone/>
            </a:pPr>
            <a:r>
              <a:rPr lang="en-IN" b="1" dirty="0"/>
              <a:t>Evaluation:</a:t>
            </a:r>
            <a:endParaRPr lang="en-IN" dirty="0"/>
          </a:p>
          <a:p>
            <a:pPr lvl="0"/>
            <a:r>
              <a:rPr lang="en-IN" dirty="0"/>
              <a:t>175 benchmarks, 74% correct from single example</a:t>
            </a:r>
          </a:p>
          <a:p>
            <a:pPr lvl="0"/>
            <a:r>
              <a:rPr lang="en-IN" dirty="0"/>
              <a:t>Shipped in Excel 2013, hundreds of millions of users</a:t>
            </a:r>
          </a:p>
          <a:p>
            <a:pPr lvl="0"/>
            <a:r>
              <a:rPr lang="en-IN" dirty="0"/>
              <a:t>Most influential POPL paper award 2021</a:t>
            </a:r>
          </a:p>
          <a:p>
            <a:pPr marL="0" indent="0">
              <a:buNone/>
            </a:pPr>
            <a:r>
              <a:rPr lang="en-IN" b="1" dirty="0"/>
              <a:t>Limitations:</a:t>
            </a:r>
            <a:endParaRPr lang="en-IN" dirty="0"/>
          </a:p>
          <a:p>
            <a:pPr lvl="0"/>
            <a:r>
              <a:rPr lang="en-IN" dirty="0"/>
              <a:t>Strings only, version space does not transfer to other domains</a:t>
            </a:r>
          </a:p>
          <a:p>
            <a:pPr lvl="0"/>
            <a:r>
              <a:rPr lang="en-IN" dirty="0"/>
              <a:t>Ambiguous examples can silently produce wrong program</a:t>
            </a:r>
          </a:p>
          <a:p>
            <a:pPr marL="0" lvl="0" indent="0">
              <a:buNone/>
            </a:pPr>
            <a:endParaRPr lang="en-IN" dirty="0"/>
          </a:p>
          <a:p>
            <a:pPr marL="0" lvl="0" indent="0">
              <a:buNone/>
            </a:pPr>
            <a:r>
              <a:rPr lang="en-US" dirty="0" err="1"/>
              <a:t>FlashFill</a:t>
            </a:r>
            <a:r>
              <a:rPr lang="en-US" dirty="0"/>
              <a:t> proved synthesis could reach real users. But it only worked in one narrow domain. The field needed a map of what existed and where to go next.</a:t>
            </a:r>
            <a:endParaRPr lang="en-IN" dirty="0"/>
          </a:p>
          <a:p>
            <a:pPr marL="0" indent="0">
              <a:buNone/>
            </a:pPr>
            <a:endParaRPr lang="en-IN" sz="1800" dirty="0"/>
          </a:p>
        </p:txBody>
      </p:sp>
      <p:pic>
        <p:nvPicPr>
          <p:cNvPr id="1028" name="Picture 4" descr="Using Flash Fill in Excel - Microsoft Support">
            <a:extLst>
              <a:ext uri="{FF2B5EF4-FFF2-40B4-BE49-F238E27FC236}">
                <a16:creationId xmlns:a16="http://schemas.microsoft.com/office/drawing/2014/main" id="{D96E5A60-29D9-A7A4-A55E-E4C31024742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091548" y="2174855"/>
            <a:ext cx="4459184" cy="2508290"/>
          </a:xfrm>
          <a:prstGeom prst="rect">
            <a:avLst/>
          </a:prstGeom>
          <a:noFill/>
          <a:extLst>
            <a:ext uri="{909E8E84-426E-40DD-AFC4-6F175D3DCCD1}">
              <a14:hiddenFill xmlns:a14="http://schemas.microsoft.com/office/drawing/2010/main">
                <a:solidFill>
                  <a:srgbClr val="FFFFFF"/>
                </a:solidFill>
              </a14:hiddenFill>
            </a:ext>
          </a:extLst>
        </p:spPr>
      </p:pic>
      <p:sp>
        <p:nvSpPr>
          <p:cNvPr id="4" name="Slide Number Placeholder 3">
            <a:extLst>
              <a:ext uri="{FF2B5EF4-FFF2-40B4-BE49-F238E27FC236}">
                <a16:creationId xmlns:a16="http://schemas.microsoft.com/office/drawing/2014/main" id="{35255CB4-41FC-EEF5-6259-81CDC0635D5E}"/>
              </a:ext>
            </a:extLst>
          </p:cNvPr>
          <p:cNvSpPr>
            <a:spLocks noGrp="1"/>
          </p:cNvSpPr>
          <p:nvPr>
            <p:ph type="sldNum" sz="quarter" idx="12"/>
          </p:nvPr>
        </p:nvSpPr>
        <p:spPr/>
        <p:txBody>
          <a:bodyPr/>
          <a:lstStyle/>
          <a:p>
            <a:fld id="{C0193642-6B89-44F9-93BF-426518C66F90}" type="slidenum">
              <a:rPr lang="en-IN" smtClean="0"/>
              <a:t>8</a:t>
            </a:fld>
            <a:endParaRPr lang="en-IN"/>
          </a:p>
        </p:txBody>
      </p:sp>
    </p:spTree>
    <p:extLst>
      <p:ext uri="{BB962C8B-B14F-4D97-AF65-F5344CB8AC3E}">
        <p14:creationId xmlns:p14="http://schemas.microsoft.com/office/powerpoint/2010/main" val="403769138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C9A27B5-D922-0528-C7C4-147E488B07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A0ED037-3164-E661-C70A-E0FE0C2C4191}"/>
              </a:ext>
            </a:extLst>
          </p:cNvPr>
          <p:cNvSpPr>
            <a:spLocks noGrp="1"/>
          </p:cNvSpPr>
          <p:nvPr>
            <p:ph type="title"/>
          </p:nvPr>
        </p:nvSpPr>
        <p:spPr/>
        <p:txBody>
          <a:bodyPr>
            <a:normAutofit/>
          </a:bodyPr>
          <a:lstStyle/>
          <a:p>
            <a:r>
              <a:rPr lang="en-US" sz="3200" b="1" dirty="0"/>
              <a:t>Survey (2017): Mapping the Landscape</a:t>
            </a:r>
            <a:endParaRPr lang="en-IN" sz="3200" b="1" dirty="0"/>
          </a:p>
        </p:txBody>
      </p:sp>
      <p:sp>
        <p:nvSpPr>
          <p:cNvPr id="3" name="Content Placeholder 2">
            <a:extLst>
              <a:ext uri="{FF2B5EF4-FFF2-40B4-BE49-F238E27FC236}">
                <a16:creationId xmlns:a16="http://schemas.microsoft.com/office/drawing/2014/main" id="{B00449E0-03BC-9CA1-1CEA-F9D221847768}"/>
              </a:ext>
            </a:extLst>
          </p:cNvPr>
          <p:cNvSpPr>
            <a:spLocks noGrp="1"/>
          </p:cNvSpPr>
          <p:nvPr>
            <p:ph idx="1"/>
          </p:nvPr>
        </p:nvSpPr>
        <p:spPr>
          <a:xfrm>
            <a:off x="838200" y="1508166"/>
            <a:ext cx="10811494" cy="4984709"/>
          </a:xfrm>
        </p:spPr>
        <p:txBody>
          <a:bodyPr>
            <a:noAutofit/>
          </a:bodyPr>
          <a:lstStyle/>
          <a:p>
            <a:pPr marL="0" indent="0">
              <a:buNone/>
            </a:pPr>
            <a:r>
              <a:rPr lang="en-IN" sz="1600" b="1" dirty="0"/>
              <a:t>Problem:</a:t>
            </a:r>
            <a:endParaRPr lang="en-IN" sz="1600" dirty="0"/>
          </a:p>
          <a:p>
            <a:pPr lvl="0"/>
            <a:r>
              <a:rPr lang="en-IN" sz="1600" dirty="0"/>
              <a:t>Field fragmented across PL, ML, HCI with no shared vocabulary</a:t>
            </a:r>
          </a:p>
          <a:p>
            <a:pPr lvl="0"/>
            <a:r>
              <a:rPr lang="en-IN" sz="1600" dirty="0"/>
              <a:t>Researchers talking past each other</a:t>
            </a:r>
          </a:p>
          <a:p>
            <a:pPr marL="0" indent="0">
              <a:buNone/>
            </a:pPr>
            <a:r>
              <a:rPr lang="en-IN" sz="1600" b="1" dirty="0"/>
              <a:t>Three-axes framework:</a:t>
            </a:r>
          </a:p>
          <a:p>
            <a:pPr lvl="0"/>
            <a:r>
              <a:rPr lang="en-IN" sz="1600" dirty="0"/>
              <a:t>Intent: how does the user say what they want? </a:t>
            </a:r>
          </a:p>
          <a:p>
            <a:pPr lvl="0"/>
            <a:r>
              <a:rPr lang="en-IN" sz="1600" dirty="0"/>
              <a:t>Program space: what programs are possible? </a:t>
            </a:r>
          </a:p>
          <a:p>
            <a:pPr lvl="0"/>
            <a:r>
              <a:rPr lang="en-IN" sz="1600" dirty="0"/>
              <a:t>Search: how do you find the right one?</a:t>
            </a:r>
          </a:p>
          <a:p>
            <a:pPr marL="0" indent="0">
              <a:buNone/>
            </a:pPr>
            <a:r>
              <a:rPr lang="en-IN" sz="1600" b="1" dirty="0"/>
              <a:t>Coverage:</a:t>
            </a:r>
            <a:endParaRPr lang="en-IN" sz="1600" dirty="0"/>
          </a:p>
          <a:p>
            <a:pPr lvl="0"/>
            <a:r>
              <a:rPr lang="en-IN" sz="1600" dirty="0"/>
              <a:t>Manna and Waldinger 1970s through early neural methods</a:t>
            </a:r>
          </a:p>
          <a:p>
            <a:pPr lvl="0"/>
            <a:r>
              <a:rPr lang="en-IN" sz="1600" dirty="0"/>
              <a:t>Four decades, three research communities</a:t>
            </a:r>
          </a:p>
          <a:p>
            <a:pPr marL="0" indent="0">
              <a:buNone/>
            </a:pPr>
            <a:r>
              <a:rPr lang="en-IN" sz="1600" b="1" dirty="0"/>
              <a:t>Limitations:</a:t>
            </a:r>
            <a:endParaRPr lang="en-IN" sz="1600" dirty="0"/>
          </a:p>
          <a:p>
            <a:pPr lvl="0"/>
            <a:r>
              <a:rPr lang="en-IN" sz="1600" dirty="0"/>
              <a:t>Written just as neural methods got serious, coverage thin</a:t>
            </a:r>
          </a:p>
          <a:p>
            <a:pPr marL="0" lvl="0" indent="0">
              <a:buNone/>
            </a:pPr>
            <a:endParaRPr lang="en-IN" sz="1600" dirty="0"/>
          </a:p>
          <a:p>
            <a:pPr marL="0" lvl="0" indent="0">
              <a:buNone/>
            </a:pPr>
            <a:r>
              <a:rPr lang="en-IN" sz="1600" dirty="0"/>
              <a:t>Flags neurosymbolic combination as the major open direction</a:t>
            </a:r>
          </a:p>
          <a:p>
            <a:pPr marL="0" indent="0">
              <a:buNone/>
            </a:pPr>
            <a:r>
              <a:rPr lang="en-IN" sz="1600" dirty="0"/>
              <a:t>The survey identified the gap. </a:t>
            </a:r>
            <a:r>
              <a:rPr lang="en-IN" sz="1600" dirty="0" err="1"/>
              <a:t>DreamCoder</a:t>
            </a:r>
            <a:r>
              <a:rPr lang="en-IN" sz="1600" dirty="0"/>
              <a:t> filled it.</a:t>
            </a:r>
          </a:p>
          <a:p>
            <a:pPr marL="0" indent="0">
              <a:buNone/>
            </a:pPr>
            <a:r>
              <a:rPr lang="en-US" sz="1600" dirty="0"/>
              <a:t> </a:t>
            </a:r>
            <a:endParaRPr lang="en-IN" sz="1600" dirty="0"/>
          </a:p>
          <a:p>
            <a:pPr marL="0" indent="0">
              <a:buNone/>
            </a:pPr>
            <a:endParaRPr lang="en-IN" sz="1600" dirty="0"/>
          </a:p>
        </p:txBody>
      </p:sp>
      <p:pic>
        <p:nvPicPr>
          <p:cNvPr id="6" name="Picture 5">
            <a:extLst>
              <a:ext uri="{FF2B5EF4-FFF2-40B4-BE49-F238E27FC236}">
                <a16:creationId xmlns:a16="http://schemas.microsoft.com/office/drawing/2014/main" id="{3F5D332D-520D-E7F5-4B05-D32C9FAC228F}"/>
              </a:ext>
            </a:extLst>
          </p:cNvPr>
          <p:cNvPicPr>
            <a:picLocks noChangeAspect="1"/>
          </p:cNvPicPr>
          <p:nvPr/>
        </p:nvPicPr>
        <p:blipFill>
          <a:blip r:embed="rId3"/>
          <a:stretch>
            <a:fillRect/>
          </a:stretch>
        </p:blipFill>
        <p:spPr>
          <a:xfrm>
            <a:off x="7419110" y="2430708"/>
            <a:ext cx="4230584" cy="2309470"/>
          </a:xfrm>
          <a:prstGeom prst="rect">
            <a:avLst/>
          </a:prstGeom>
        </p:spPr>
      </p:pic>
      <p:sp>
        <p:nvSpPr>
          <p:cNvPr id="9" name="Slide Number Placeholder 8">
            <a:extLst>
              <a:ext uri="{FF2B5EF4-FFF2-40B4-BE49-F238E27FC236}">
                <a16:creationId xmlns:a16="http://schemas.microsoft.com/office/drawing/2014/main" id="{23A30CA8-9135-BF4C-8754-7D9B96BE9BF9}"/>
              </a:ext>
            </a:extLst>
          </p:cNvPr>
          <p:cNvSpPr>
            <a:spLocks noGrp="1"/>
          </p:cNvSpPr>
          <p:nvPr>
            <p:ph type="sldNum" sz="quarter" idx="12"/>
          </p:nvPr>
        </p:nvSpPr>
        <p:spPr/>
        <p:txBody>
          <a:bodyPr/>
          <a:lstStyle/>
          <a:p>
            <a:fld id="{C0193642-6B89-44F9-93BF-426518C66F90}" type="slidenum">
              <a:rPr lang="en-IN" smtClean="0"/>
              <a:t>9</a:t>
            </a:fld>
            <a:endParaRPr lang="en-IN"/>
          </a:p>
        </p:txBody>
      </p:sp>
    </p:spTree>
    <p:extLst>
      <p:ext uri="{BB962C8B-B14F-4D97-AF65-F5344CB8AC3E}">
        <p14:creationId xmlns:p14="http://schemas.microsoft.com/office/powerpoint/2010/main" val="33170730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6C8445-944D-711F-D104-4573A8D913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932209C-871D-36B1-8C01-06AAEDF90ECD}"/>
              </a:ext>
            </a:extLst>
          </p:cNvPr>
          <p:cNvSpPr>
            <a:spLocks noGrp="1"/>
          </p:cNvSpPr>
          <p:nvPr>
            <p:ph type="title"/>
          </p:nvPr>
        </p:nvSpPr>
        <p:spPr/>
        <p:txBody>
          <a:bodyPr>
            <a:normAutofit/>
          </a:bodyPr>
          <a:lstStyle/>
          <a:p>
            <a:r>
              <a:rPr lang="en-US" sz="3200" b="1" dirty="0" err="1"/>
              <a:t>DreamCoder</a:t>
            </a:r>
            <a:r>
              <a:rPr lang="en-US" sz="3200" b="1" dirty="0"/>
              <a:t> (2021): Synthesis That Learns</a:t>
            </a:r>
            <a:endParaRPr lang="en-IN" sz="3200" b="1" dirty="0"/>
          </a:p>
        </p:txBody>
      </p:sp>
      <p:sp>
        <p:nvSpPr>
          <p:cNvPr id="3" name="Content Placeholder 2">
            <a:extLst>
              <a:ext uri="{FF2B5EF4-FFF2-40B4-BE49-F238E27FC236}">
                <a16:creationId xmlns:a16="http://schemas.microsoft.com/office/drawing/2014/main" id="{1CF630F0-ECB3-68D0-E458-D40427877615}"/>
              </a:ext>
            </a:extLst>
          </p:cNvPr>
          <p:cNvSpPr>
            <a:spLocks noGrp="1"/>
          </p:cNvSpPr>
          <p:nvPr>
            <p:ph idx="1"/>
          </p:nvPr>
        </p:nvSpPr>
        <p:spPr>
          <a:xfrm>
            <a:off x="838200" y="1508166"/>
            <a:ext cx="10811494" cy="4984709"/>
          </a:xfrm>
        </p:spPr>
        <p:txBody>
          <a:bodyPr>
            <a:noAutofit/>
          </a:bodyPr>
          <a:lstStyle/>
          <a:p>
            <a:pPr marL="0" indent="0">
              <a:buNone/>
            </a:pPr>
            <a:r>
              <a:rPr lang="en-IN" sz="2000" b="1" dirty="0"/>
              <a:t>Problem:</a:t>
            </a:r>
            <a:endParaRPr lang="en-IN" sz="2000" dirty="0"/>
          </a:p>
          <a:p>
            <a:pPr lvl="0"/>
            <a:r>
              <a:rPr lang="en-IN" sz="2000" dirty="0"/>
              <a:t>Classical synthesis starts from scratch every time, does not accumulate knowledge</a:t>
            </a:r>
          </a:p>
          <a:p>
            <a:pPr lvl="0"/>
            <a:r>
              <a:rPr lang="en-IN" sz="2000" dirty="0"/>
              <a:t>Neural synthesis generalizes but lacks correctness guarantees</a:t>
            </a:r>
          </a:p>
          <a:p>
            <a:pPr lvl="0"/>
            <a:r>
              <a:rPr lang="en-IN" sz="2000" dirty="0"/>
              <a:t>Can a system get better at synthesis the more it synthesizes?</a:t>
            </a:r>
          </a:p>
          <a:p>
            <a:pPr marL="0" lvl="0" indent="0">
              <a:buNone/>
            </a:pPr>
            <a:endParaRPr lang="en-IN" sz="2000" dirty="0"/>
          </a:p>
          <a:p>
            <a:pPr marL="0" indent="0">
              <a:buNone/>
            </a:pPr>
            <a:r>
              <a:rPr lang="en-IN" sz="2000" b="1" dirty="0"/>
              <a:t>Key idea:</a:t>
            </a:r>
            <a:endParaRPr lang="en-IN" sz="2000" dirty="0"/>
          </a:p>
          <a:p>
            <a:pPr lvl="0"/>
            <a:r>
              <a:rPr lang="en-IN" sz="2000" dirty="0"/>
              <a:t>Library learning: build up reusable abstractions over time </a:t>
            </a:r>
            <a:r>
              <a:rPr lang="en-US" sz="2000" dirty="0"/>
              <a:t>instead of searching from scratch</a:t>
            </a:r>
            <a:endParaRPr lang="en-IN" sz="2000" dirty="0"/>
          </a:p>
          <a:p>
            <a:pPr lvl="0"/>
            <a:r>
              <a:rPr lang="en-IN" sz="2000" dirty="0"/>
              <a:t>Neural policy guides search, gets smarter each iteration</a:t>
            </a:r>
          </a:p>
          <a:p>
            <a:pPr lvl="0"/>
            <a:r>
              <a:rPr lang="en-US" sz="2000" dirty="0"/>
              <a:t>Wake-sleep algorithm: alternates between solving tasks and reflecting on what was learned</a:t>
            </a:r>
            <a:endParaRPr lang="en-IN" sz="1600" dirty="0"/>
          </a:p>
        </p:txBody>
      </p:sp>
      <p:sp>
        <p:nvSpPr>
          <p:cNvPr id="4" name="Slide Number Placeholder 3">
            <a:extLst>
              <a:ext uri="{FF2B5EF4-FFF2-40B4-BE49-F238E27FC236}">
                <a16:creationId xmlns:a16="http://schemas.microsoft.com/office/drawing/2014/main" id="{4C2D5E69-98F1-EF29-8991-C925F46FDE5C}"/>
              </a:ext>
            </a:extLst>
          </p:cNvPr>
          <p:cNvSpPr>
            <a:spLocks noGrp="1"/>
          </p:cNvSpPr>
          <p:nvPr>
            <p:ph type="sldNum" sz="quarter" idx="12"/>
          </p:nvPr>
        </p:nvSpPr>
        <p:spPr/>
        <p:txBody>
          <a:bodyPr/>
          <a:lstStyle/>
          <a:p>
            <a:fld id="{C0193642-6B89-44F9-93BF-426518C66F90}" type="slidenum">
              <a:rPr lang="en-IN" smtClean="0"/>
              <a:t>10</a:t>
            </a:fld>
            <a:endParaRPr lang="en-IN"/>
          </a:p>
        </p:txBody>
      </p:sp>
    </p:spTree>
    <p:extLst>
      <p:ext uri="{BB962C8B-B14F-4D97-AF65-F5344CB8AC3E}">
        <p14:creationId xmlns:p14="http://schemas.microsoft.com/office/powerpoint/2010/main" val="135210209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AE360F-02D3-2E14-391C-D377B626FC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3F8D5F7-1C50-3063-F029-364C17AC3A0E}"/>
              </a:ext>
            </a:extLst>
          </p:cNvPr>
          <p:cNvSpPr>
            <a:spLocks noGrp="1"/>
          </p:cNvSpPr>
          <p:nvPr>
            <p:ph type="title"/>
          </p:nvPr>
        </p:nvSpPr>
        <p:spPr/>
        <p:txBody>
          <a:bodyPr>
            <a:normAutofit/>
          </a:bodyPr>
          <a:lstStyle/>
          <a:p>
            <a:r>
              <a:rPr lang="en-IN" sz="3200" b="1" dirty="0" err="1"/>
              <a:t>DreamCoder</a:t>
            </a:r>
            <a:r>
              <a:rPr lang="en-IN" sz="3200" b="1" dirty="0"/>
              <a:t>: The Wake-Sleep Algorithm</a:t>
            </a:r>
          </a:p>
        </p:txBody>
      </p:sp>
      <p:sp>
        <p:nvSpPr>
          <p:cNvPr id="3" name="Content Placeholder 2">
            <a:extLst>
              <a:ext uri="{FF2B5EF4-FFF2-40B4-BE49-F238E27FC236}">
                <a16:creationId xmlns:a16="http://schemas.microsoft.com/office/drawing/2014/main" id="{A7584A4D-6D48-20FB-90CC-F5A8AB7BF3AE}"/>
              </a:ext>
            </a:extLst>
          </p:cNvPr>
          <p:cNvSpPr>
            <a:spLocks noGrp="1"/>
          </p:cNvSpPr>
          <p:nvPr>
            <p:ph idx="1"/>
          </p:nvPr>
        </p:nvSpPr>
        <p:spPr>
          <a:xfrm>
            <a:off x="838200" y="1508167"/>
            <a:ext cx="5740730" cy="1278214"/>
          </a:xfrm>
        </p:spPr>
        <p:txBody>
          <a:bodyPr>
            <a:noAutofit/>
          </a:bodyPr>
          <a:lstStyle/>
          <a:p>
            <a:pPr marL="0" indent="0">
              <a:buNone/>
            </a:pPr>
            <a:r>
              <a:rPr lang="en-US" sz="1600" b="1" dirty="0"/>
              <a:t>Wake Phase:</a:t>
            </a:r>
            <a:endParaRPr lang="en-US" sz="1600" dirty="0"/>
          </a:p>
          <a:p>
            <a:r>
              <a:rPr lang="en-US" sz="1600" dirty="0"/>
              <a:t>Solve batch of tasks using </a:t>
            </a:r>
            <a:r>
              <a:rPr lang="en-US" sz="1600" dirty="0" err="1"/>
              <a:t>neurally</a:t>
            </a:r>
            <a:r>
              <a:rPr lang="en-US" sz="1600" dirty="0"/>
              <a:t>-guided enumerative search</a:t>
            </a:r>
          </a:p>
          <a:p>
            <a:r>
              <a:rPr lang="en-US" sz="1600" dirty="0"/>
              <a:t>Recognition network scores which programs to explore first</a:t>
            </a:r>
          </a:p>
          <a:p>
            <a:pPr marL="0" indent="0">
              <a:buNone/>
            </a:pPr>
            <a:endParaRPr lang="en-IN" sz="1600" dirty="0"/>
          </a:p>
        </p:txBody>
      </p:sp>
      <p:sp>
        <p:nvSpPr>
          <p:cNvPr id="4" name="TextBox 3">
            <a:extLst>
              <a:ext uri="{FF2B5EF4-FFF2-40B4-BE49-F238E27FC236}">
                <a16:creationId xmlns:a16="http://schemas.microsoft.com/office/drawing/2014/main" id="{37F4DCEF-9788-EF83-831B-0A713F66372E}"/>
              </a:ext>
            </a:extLst>
          </p:cNvPr>
          <p:cNvSpPr txBox="1"/>
          <p:nvPr/>
        </p:nvSpPr>
        <p:spPr>
          <a:xfrm>
            <a:off x="6578930" y="1531917"/>
            <a:ext cx="5058888" cy="1384995"/>
          </a:xfrm>
          <a:prstGeom prst="rect">
            <a:avLst/>
          </a:prstGeom>
          <a:noFill/>
        </p:spPr>
        <p:txBody>
          <a:bodyPr wrap="square" rtlCol="0">
            <a:spAutoFit/>
          </a:bodyPr>
          <a:lstStyle/>
          <a:p>
            <a:r>
              <a:rPr lang="en-US" b="1" dirty="0"/>
              <a:t>Sleep Phase:</a:t>
            </a:r>
            <a:endParaRPr lang="en-US" dirty="0"/>
          </a:p>
          <a:p>
            <a:pPr marL="285750" indent="-285750">
              <a:buFont typeface="Arial" panose="020B0604020202020204" pitchFamily="34" charset="0"/>
              <a:buChar char="•"/>
            </a:pPr>
            <a:r>
              <a:rPr lang="en-US" sz="1600" dirty="0"/>
              <a:t>Compress solutions, find shared substructures</a:t>
            </a:r>
          </a:p>
          <a:p>
            <a:pPr marL="285750" indent="-285750">
              <a:buFont typeface="Arial" panose="020B0604020202020204" pitchFamily="34" charset="0"/>
              <a:buChar char="•"/>
            </a:pPr>
            <a:r>
              <a:rPr lang="en-US" sz="1600" dirty="0"/>
              <a:t>Add common patterns to library as named primitives</a:t>
            </a:r>
          </a:p>
          <a:p>
            <a:pPr marL="285750" indent="-285750">
              <a:buFont typeface="Arial" panose="020B0604020202020204" pitchFamily="34" charset="0"/>
              <a:buChar char="•"/>
            </a:pPr>
            <a:r>
              <a:rPr lang="en-US" sz="1600" dirty="0"/>
              <a:t>Retrain neural policy on updated vocabulary</a:t>
            </a:r>
          </a:p>
          <a:p>
            <a:endParaRPr lang="en-IN" dirty="0"/>
          </a:p>
        </p:txBody>
      </p:sp>
      <p:sp>
        <p:nvSpPr>
          <p:cNvPr id="6" name="TextBox 5">
            <a:extLst>
              <a:ext uri="{FF2B5EF4-FFF2-40B4-BE49-F238E27FC236}">
                <a16:creationId xmlns:a16="http://schemas.microsoft.com/office/drawing/2014/main" id="{A1F193DA-07AD-3B7E-17A5-5D32633D1E17}"/>
              </a:ext>
            </a:extLst>
          </p:cNvPr>
          <p:cNvSpPr txBox="1"/>
          <p:nvPr/>
        </p:nvSpPr>
        <p:spPr>
          <a:xfrm>
            <a:off x="7932716" y="5807294"/>
            <a:ext cx="3847605" cy="646331"/>
          </a:xfrm>
          <a:prstGeom prst="rect">
            <a:avLst/>
          </a:prstGeom>
          <a:noFill/>
        </p:spPr>
        <p:txBody>
          <a:bodyPr wrap="square" rtlCol="0">
            <a:spAutoFit/>
          </a:bodyPr>
          <a:lstStyle/>
          <a:p>
            <a:r>
              <a:rPr lang="en-US" dirty="0"/>
              <a:t>Each iteration starts from a richer language and a smarter guide</a:t>
            </a:r>
            <a:endParaRPr lang="en-IN" dirty="0"/>
          </a:p>
        </p:txBody>
      </p:sp>
      <p:pic>
        <p:nvPicPr>
          <p:cNvPr id="8" name="Picture 7">
            <a:extLst>
              <a:ext uri="{FF2B5EF4-FFF2-40B4-BE49-F238E27FC236}">
                <a16:creationId xmlns:a16="http://schemas.microsoft.com/office/drawing/2014/main" id="{6F82C5F7-C9FB-C180-3D10-3F603275CF26}"/>
              </a:ext>
            </a:extLst>
          </p:cNvPr>
          <p:cNvPicPr>
            <a:picLocks noChangeAspect="1"/>
          </p:cNvPicPr>
          <p:nvPr/>
        </p:nvPicPr>
        <p:blipFill>
          <a:blip r:embed="rId3"/>
          <a:stretch>
            <a:fillRect/>
          </a:stretch>
        </p:blipFill>
        <p:spPr>
          <a:xfrm>
            <a:off x="3238515" y="2786381"/>
            <a:ext cx="4432946" cy="3706494"/>
          </a:xfrm>
          <a:prstGeom prst="rect">
            <a:avLst/>
          </a:prstGeom>
        </p:spPr>
      </p:pic>
      <p:sp>
        <p:nvSpPr>
          <p:cNvPr id="9" name="Rectangle 8">
            <a:extLst>
              <a:ext uri="{FF2B5EF4-FFF2-40B4-BE49-F238E27FC236}">
                <a16:creationId xmlns:a16="http://schemas.microsoft.com/office/drawing/2014/main" id="{5281015B-25D2-8D36-62AD-2CAB307BD7B9}"/>
              </a:ext>
            </a:extLst>
          </p:cNvPr>
          <p:cNvSpPr/>
          <p:nvPr/>
        </p:nvSpPr>
        <p:spPr>
          <a:xfrm>
            <a:off x="3598223" y="2786381"/>
            <a:ext cx="3895107" cy="132556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0" name="Rectangle 9">
            <a:extLst>
              <a:ext uri="{FF2B5EF4-FFF2-40B4-BE49-F238E27FC236}">
                <a16:creationId xmlns:a16="http://schemas.microsoft.com/office/drawing/2014/main" id="{ADD5D658-F93C-3366-59D5-9EC5CFFFC4BE}"/>
              </a:ext>
            </a:extLst>
          </p:cNvPr>
          <p:cNvSpPr/>
          <p:nvPr/>
        </p:nvSpPr>
        <p:spPr>
          <a:xfrm>
            <a:off x="3443844" y="4215740"/>
            <a:ext cx="1638795" cy="236319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2" name="Rectangle 11">
            <a:extLst>
              <a:ext uri="{FF2B5EF4-FFF2-40B4-BE49-F238E27FC236}">
                <a16:creationId xmlns:a16="http://schemas.microsoft.com/office/drawing/2014/main" id="{13803B5E-1A31-D29E-C6D8-1F03B6CBD1E9}"/>
              </a:ext>
            </a:extLst>
          </p:cNvPr>
          <p:cNvSpPr/>
          <p:nvPr/>
        </p:nvSpPr>
        <p:spPr>
          <a:xfrm>
            <a:off x="5985164" y="4215740"/>
            <a:ext cx="1686297" cy="236319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Slide Number Placeholder 12">
            <a:extLst>
              <a:ext uri="{FF2B5EF4-FFF2-40B4-BE49-F238E27FC236}">
                <a16:creationId xmlns:a16="http://schemas.microsoft.com/office/drawing/2014/main" id="{07090974-1B23-B8F1-2BBB-4BDE4EF54D07}"/>
              </a:ext>
            </a:extLst>
          </p:cNvPr>
          <p:cNvSpPr>
            <a:spLocks noGrp="1"/>
          </p:cNvSpPr>
          <p:nvPr>
            <p:ph type="sldNum" sz="quarter" idx="12"/>
          </p:nvPr>
        </p:nvSpPr>
        <p:spPr/>
        <p:txBody>
          <a:bodyPr/>
          <a:lstStyle/>
          <a:p>
            <a:fld id="{C0193642-6B89-44F9-93BF-426518C66F90}" type="slidenum">
              <a:rPr lang="en-IN" smtClean="0"/>
              <a:t>11</a:t>
            </a:fld>
            <a:endParaRPr lang="en-IN"/>
          </a:p>
        </p:txBody>
      </p:sp>
    </p:spTree>
    <p:extLst>
      <p:ext uri="{BB962C8B-B14F-4D97-AF65-F5344CB8AC3E}">
        <p14:creationId xmlns:p14="http://schemas.microsoft.com/office/powerpoint/2010/main" val="264156578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10" grpId="0" animBg="1"/>
      <p:bldP spid="12"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FDFB0A-4252-4026-2AD4-FDDF19C856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F31EC51-11F3-CC9C-C081-D78EBF667F72}"/>
              </a:ext>
            </a:extLst>
          </p:cNvPr>
          <p:cNvSpPr>
            <a:spLocks noGrp="1"/>
          </p:cNvSpPr>
          <p:nvPr>
            <p:ph type="title"/>
          </p:nvPr>
        </p:nvSpPr>
        <p:spPr/>
        <p:txBody>
          <a:bodyPr>
            <a:normAutofit/>
          </a:bodyPr>
          <a:lstStyle/>
          <a:p>
            <a:r>
              <a:rPr lang="en-IN" sz="3200" b="1" dirty="0" err="1"/>
              <a:t>DreamCoder</a:t>
            </a:r>
            <a:r>
              <a:rPr lang="en-IN" sz="3200" b="1" dirty="0"/>
              <a:t>: Results</a:t>
            </a:r>
          </a:p>
        </p:txBody>
      </p:sp>
      <p:sp>
        <p:nvSpPr>
          <p:cNvPr id="3" name="Content Placeholder 2">
            <a:extLst>
              <a:ext uri="{FF2B5EF4-FFF2-40B4-BE49-F238E27FC236}">
                <a16:creationId xmlns:a16="http://schemas.microsoft.com/office/drawing/2014/main" id="{2E18A34E-DD02-2A9D-3D84-AC4B6C40740F}"/>
              </a:ext>
            </a:extLst>
          </p:cNvPr>
          <p:cNvSpPr>
            <a:spLocks noGrp="1"/>
          </p:cNvSpPr>
          <p:nvPr>
            <p:ph idx="1"/>
          </p:nvPr>
        </p:nvSpPr>
        <p:spPr>
          <a:xfrm>
            <a:off x="838200" y="1508166"/>
            <a:ext cx="10811494" cy="4984709"/>
          </a:xfrm>
        </p:spPr>
        <p:txBody>
          <a:bodyPr>
            <a:noAutofit/>
          </a:bodyPr>
          <a:lstStyle/>
          <a:p>
            <a:pPr lvl="0"/>
            <a:r>
              <a:rPr lang="en-IN" sz="1800" dirty="0"/>
              <a:t>Rediscovered map, filter, fold from basic recursion alone</a:t>
            </a:r>
          </a:p>
          <a:p>
            <a:pPr lvl="0"/>
            <a:r>
              <a:rPr lang="en-IN" sz="1800" dirty="0"/>
              <a:t>Discovered Newton's and Coulomb's laws from physics data</a:t>
            </a:r>
          </a:p>
          <a:p>
            <a:pPr lvl="0"/>
            <a:r>
              <a:rPr lang="en-IN" sz="1800" dirty="0"/>
              <a:t>Outperformed pure enumeration, pure neural, prior library learning across all 8 domains</a:t>
            </a:r>
          </a:p>
          <a:p>
            <a:pPr marL="0" lv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endParaRPr lang="en-IN" sz="1800" dirty="0"/>
          </a:p>
          <a:p>
            <a:pPr marL="0" indent="0">
              <a:buNone/>
            </a:pPr>
            <a:r>
              <a:rPr lang="en-IN" sz="1800" dirty="0"/>
              <a:t>This is not a benchmark improvement. This is a qualitatively different kind of result.</a:t>
            </a:r>
          </a:p>
          <a:p>
            <a:pPr marL="0" indent="0">
              <a:buNone/>
            </a:pPr>
            <a:endParaRPr lang="en-IN" sz="1600" dirty="0"/>
          </a:p>
        </p:txBody>
      </p:sp>
      <p:pic>
        <p:nvPicPr>
          <p:cNvPr id="5" name="Picture 4">
            <a:extLst>
              <a:ext uri="{FF2B5EF4-FFF2-40B4-BE49-F238E27FC236}">
                <a16:creationId xmlns:a16="http://schemas.microsoft.com/office/drawing/2014/main" id="{2F5A3965-DDD7-772B-FC51-ACD1DAD22708}"/>
              </a:ext>
            </a:extLst>
          </p:cNvPr>
          <p:cNvPicPr>
            <a:picLocks noChangeAspect="1"/>
          </p:cNvPicPr>
          <p:nvPr/>
        </p:nvPicPr>
        <p:blipFill>
          <a:blip r:embed="rId3"/>
          <a:stretch>
            <a:fillRect/>
          </a:stretch>
        </p:blipFill>
        <p:spPr>
          <a:xfrm>
            <a:off x="6651355" y="2722367"/>
            <a:ext cx="3007039" cy="3120299"/>
          </a:xfrm>
          <a:prstGeom prst="rect">
            <a:avLst/>
          </a:prstGeom>
        </p:spPr>
      </p:pic>
      <p:pic>
        <p:nvPicPr>
          <p:cNvPr id="7" name="Picture 6">
            <a:extLst>
              <a:ext uri="{FF2B5EF4-FFF2-40B4-BE49-F238E27FC236}">
                <a16:creationId xmlns:a16="http://schemas.microsoft.com/office/drawing/2014/main" id="{003EC6A3-3E01-641D-3B8C-A5EC379881EF}"/>
              </a:ext>
            </a:extLst>
          </p:cNvPr>
          <p:cNvPicPr>
            <a:picLocks noChangeAspect="1"/>
          </p:cNvPicPr>
          <p:nvPr/>
        </p:nvPicPr>
        <p:blipFill>
          <a:blip r:embed="rId4"/>
          <a:stretch>
            <a:fillRect/>
          </a:stretch>
        </p:blipFill>
        <p:spPr>
          <a:xfrm>
            <a:off x="1735818" y="2722367"/>
            <a:ext cx="4017920" cy="3120299"/>
          </a:xfrm>
          <a:prstGeom prst="rect">
            <a:avLst/>
          </a:prstGeom>
        </p:spPr>
      </p:pic>
      <p:sp>
        <p:nvSpPr>
          <p:cNvPr id="11" name="Oval 10">
            <a:extLst>
              <a:ext uri="{FF2B5EF4-FFF2-40B4-BE49-F238E27FC236}">
                <a16:creationId xmlns:a16="http://schemas.microsoft.com/office/drawing/2014/main" id="{137A9197-2946-B1D2-CF31-1E38D73DA6AA}"/>
              </a:ext>
            </a:extLst>
          </p:cNvPr>
          <p:cNvSpPr/>
          <p:nvPr/>
        </p:nvSpPr>
        <p:spPr>
          <a:xfrm>
            <a:off x="2201333" y="4861401"/>
            <a:ext cx="3102245" cy="1012866"/>
          </a:xfrm>
          <a:prstGeom prst="ellipse">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3" name="Rectangle 12">
            <a:extLst>
              <a:ext uri="{FF2B5EF4-FFF2-40B4-BE49-F238E27FC236}">
                <a16:creationId xmlns:a16="http://schemas.microsoft.com/office/drawing/2014/main" id="{D120B37A-8D3A-E6B3-9CAA-A2DF6FDD43C7}"/>
              </a:ext>
            </a:extLst>
          </p:cNvPr>
          <p:cNvSpPr/>
          <p:nvPr/>
        </p:nvSpPr>
        <p:spPr>
          <a:xfrm>
            <a:off x="7498080" y="3078480"/>
            <a:ext cx="1610360" cy="18796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Rectangle 13">
            <a:extLst>
              <a:ext uri="{FF2B5EF4-FFF2-40B4-BE49-F238E27FC236}">
                <a16:creationId xmlns:a16="http://schemas.microsoft.com/office/drawing/2014/main" id="{7D4517AF-EEF6-411E-7289-9DBA290DF3E0}"/>
              </a:ext>
            </a:extLst>
          </p:cNvPr>
          <p:cNvSpPr/>
          <p:nvPr/>
        </p:nvSpPr>
        <p:spPr>
          <a:xfrm>
            <a:off x="7498080" y="3997801"/>
            <a:ext cx="1666240" cy="18796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5" name="Rectangle 14">
            <a:extLst>
              <a:ext uri="{FF2B5EF4-FFF2-40B4-BE49-F238E27FC236}">
                <a16:creationId xmlns:a16="http://schemas.microsoft.com/office/drawing/2014/main" id="{80F649F0-711F-0E03-439A-8DF9B4E864F8}"/>
              </a:ext>
            </a:extLst>
          </p:cNvPr>
          <p:cNvSpPr/>
          <p:nvPr/>
        </p:nvSpPr>
        <p:spPr>
          <a:xfrm>
            <a:off x="7498080" y="4861401"/>
            <a:ext cx="2026920" cy="264478"/>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6" name="Rectangle 15">
            <a:extLst>
              <a:ext uri="{FF2B5EF4-FFF2-40B4-BE49-F238E27FC236}">
                <a16:creationId xmlns:a16="http://schemas.microsoft.com/office/drawing/2014/main" id="{5BC2C656-2F13-5F2B-1228-32F9B643C51F}"/>
              </a:ext>
            </a:extLst>
          </p:cNvPr>
          <p:cNvSpPr/>
          <p:nvPr/>
        </p:nvSpPr>
        <p:spPr>
          <a:xfrm>
            <a:off x="7487920" y="3304793"/>
            <a:ext cx="1666240" cy="640080"/>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7" name="Rectangle 16">
            <a:extLst>
              <a:ext uri="{FF2B5EF4-FFF2-40B4-BE49-F238E27FC236}">
                <a16:creationId xmlns:a16="http://schemas.microsoft.com/office/drawing/2014/main" id="{795C4582-2FE2-E885-6001-EB981FD233B1}"/>
              </a:ext>
            </a:extLst>
          </p:cNvPr>
          <p:cNvSpPr/>
          <p:nvPr/>
        </p:nvSpPr>
        <p:spPr>
          <a:xfrm>
            <a:off x="7498080" y="4232798"/>
            <a:ext cx="1661160" cy="581566"/>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8" name="Rectangle 17">
            <a:extLst>
              <a:ext uri="{FF2B5EF4-FFF2-40B4-BE49-F238E27FC236}">
                <a16:creationId xmlns:a16="http://schemas.microsoft.com/office/drawing/2014/main" id="{8C6DAFAF-5DDD-2366-4EAB-B071F8727DBC}"/>
              </a:ext>
            </a:extLst>
          </p:cNvPr>
          <p:cNvSpPr/>
          <p:nvPr/>
        </p:nvSpPr>
        <p:spPr>
          <a:xfrm>
            <a:off x="7487920" y="5186960"/>
            <a:ext cx="2026920" cy="533120"/>
          </a:xfrm>
          <a:prstGeom prst="rect">
            <a:avLst/>
          </a:prstGeom>
          <a:noFill/>
          <a:ln w="28575">
            <a:solidFill>
              <a:srgbClr val="00B0F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9" name="Slide Number Placeholder 18">
            <a:extLst>
              <a:ext uri="{FF2B5EF4-FFF2-40B4-BE49-F238E27FC236}">
                <a16:creationId xmlns:a16="http://schemas.microsoft.com/office/drawing/2014/main" id="{BE197281-E529-AF9E-51F4-53E01C21E8B4}"/>
              </a:ext>
            </a:extLst>
          </p:cNvPr>
          <p:cNvSpPr>
            <a:spLocks noGrp="1"/>
          </p:cNvSpPr>
          <p:nvPr>
            <p:ph type="sldNum" sz="quarter" idx="12"/>
          </p:nvPr>
        </p:nvSpPr>
        <p:spPr/>
        <p:txBody>
          <a:bodyPr/>
          <a:lstStyle/>
          <a:p>
            <a:fld id="{C0193642-6B89-44F9-93BF-426518C66F90}" type="slidenum">
              <a:rPr lang="en-IN" smtClean="0"/>
              <a:t>12</a:t>
            </a:fld>
            <a:endParaRPr lang="en-IN"/>
          </a:p>
        </p:txBody>
      </p:sp>
    </p:spTree>
    <p:extLst>
      <p:ext uri="{BB962C8B-B14F-4D97-AF65-F5344CB8AC3E}">
        <p14:creationId xmlns:p14="http://schemas.microsoft.com/office/powerpoint/2010/main" val="39903017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5"/>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3" grpId="0" animBg="1"/>
      <p:bldP spid="14" grpId="0" animBg="1"/>
      <p:bldP spid="15" grpId="0" animBg="1"/>
      <p:bldP spid="16" grpId="0" animBg="1"/>
      <p:bldP spid="17" grpId="0" animBg="1"/>
      <p:bldP spid="18" grpId="0" animBg="1"/>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2FB8B8-9AAF-58A5-169F-E8801174F26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F34AF6-8699-20D9-8486-2D71202898BE}"/>
              </a:ext>
            </a:extLst>
          </p:cNvPr>
          <p:cNvSpPr>
            <a:spLocks noGrp="1"/>
          </p:cNvSpPr>
          <p:nvPr>
            <p:ph type="title"/>
          </p:nvPr>
        </p:nvSpPr>
        <p:spPr/>
        <p:txBody>
          <a:bodyPr>
            <a:normAutofit/>
          </a:bodyPr>
          <a:lstStyle/>
          <a:p>
            <a:r>
              <a:rPr lang="en-US" sz="3200" b="1" dirty="0" err="1"/>
              <a:t>DreamCoder</a:t>
            </a:r>
            <a:r>
              <a:rPr lang="en-US" sz="3200" b="1" dirty="0"/>
              <a:t>: Limitations and What Comes Next</a:t>
            </a:r>
            <a:endParaRPr lang="en-IN" sz="3200" b="1" dirty="0"/>
          </a:p>
        </p:txBody>
      </p:sp>
      <p:sp>
        <p:nvSpPr>
          <p:cNvPr id="3" name="Content Placeholder 2">
            <a:extLst>
              <a:ext uri="{FF2B5EF4-FFF2-40B4-BE49-F238E27FC236}">
                <a16:creationId xmlns:a16="http://schemas.microsoft.com/office/drawing/2014/main" id="{5DAA392B-5E8A-3508-1120-A5F267D76B30}"/>
              </a:ext>
            </a:extLst>
          </p:cNvPr>
          <p:cNvSpPr>
            <a:spLocks noGrp="1"/>
          </p:cNvSpPr>
          <p:nvPr>
            <p:ph idx="1"/>
          </p:nvPr>
        </p:nvSpPr>
        <p:spPr>
          <a:xfrm>
            <a:off x="838200" y="1508166"/>
            <a:ext cx="10811494" cy="4984709"/>
          </a:xfrm>
        </p:spPr>
        <p:txBody>
          <a:bodyPr>
            <a:noAutofit/>
          </a:bodyPr>
          <a:lstStyle/>
          <a:p>
            <a:pPr marL="0" indent="0">
              <a:buNone/>
            </a:pPr>
            <a:r>
              <a:rPr lang="en-IN" sz="2000" b="1" dirty="0"/>
              <a:t>Limitations:</a:t>
            </a:r>
            <a:endParaRPr lang="en-IN" sz="2000" dirty="0"/>
          </a:p>
          <a:p>
            <a:pPr lvl="0"/>
            <a:r>
              <a:rPr lang="en-IN" sz="2000" dirty="0"/>
              <a:t>Enumerative search is expensive across 8 domains over many iterations</a:t>
            </a:r>
          </a:p>
          <a:p>
            <a:pPr lvl="0"/>
            <a:r>
              <a:rPr lang="en-IN" sz="2000" dirty="0"/>
              <a:t>Needs many training tasks to bootstrap library learning effectively</a:t>
            </a:r>
          </a:p>
          <a:p>
            <a:pPr lvl="0"/>
            <a:r>
              <a:rPr lang="en-IN" sz="2000" dirty="0"/>
              <a:t>Distribution shift between training and test hurts library transfer</a:t>
            </a:r>
          </a:p>
          <a:p>
            <a:pPr lvl="0"/>
            <a:r>
              <a:rPr lang="en-IN" sz="2000" dirty="0"/>
              <a:t>Cannot start from scratch in a new domain without significant setup</a:t>
            </a:r>
          </a:p>
          <a:p>
            <a:pPr marL="0" indent="0">
              <a:buNone/>
            </a:pPr>
            <a:endParaRPr lang="en-IN" sz="2000" dirty="0"/>
          </a:p>
        </p:txBody>
      </p:sp>
      <p:sp>
        <p:nvSpPr>
          <p:cNvPr id="4" name="Slide Number Placeholder 3">
            <a:extLst>
              <a:ext uri="{FF2B5EF4-FFF2-40B4-BE49-F238E27FC236}">
                <a16:creationId xmlns:a16="http://schemas.microsoft.com/office/drawing/2014/main" id="{BDC2355A-8DF7-6E15-D888-F3FE861B780F}"/>
              </a:ext>
            </a:extLst>
          </p:cNvPr>
          <p:cNvSpPr>
            <a:spLocks noGrp="1"/>
          </p:cNvSpPr>
          <p:nvPr>
            <p:ph type="sldNum" sz="quarter" idx="12"/>
          </p:nvPr>
        </p:nvSpPr>
        <p:spPr/>
        <p:txBody>
          <a:bodyPr/>
          <a:lstStyle/>
          <a:p>
            <a:fld id="{C0193642-6B89-44F9-93BF-426518C66F90}" type="slidenum">
              <a:rPr lang="en-IN" smtClean="0"/>
              <a:t>13</a:t>
            </a:fld>
            <a:endParaRPr lang="en-IN"/>
          </a:p>
        </p:txBody>
      </p:sp>
    </p:spTree>
    <p:extLst>
      <p:ext uri="{BB962C8B-B14F-4D97-AF65-F5344CB8AC3E}">
        <p14:creationId xmlns:p14="http://schemas.microsoft.com/office/powerpoint/2010/main" val="8424499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1D744D-B940-3FD8-99C2-8F9849191DC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B01911-182A-097E-D4E0-03E819BFB670}"/>
              </a:ext>
            </a:extLst>
          </p:cNvPr>
          <p:cNvSpPr>
            <a:spLocks noGrp="1"/>
          </p:cNvSpPr>
          <p:nvPr>
            <p:ph type="title"/>
          </p:nvPr>
        </p:nvSpPr>
        <p:spPr/>
        <p:txBody>
          <a:bodyPr>
            <a:normAutofit/>
          </a:bodyPr>
          <a:lstStyle/>
          <a:p>
            <a:r>
              <a:rPr lang="en-US" sz="3200" b="1" dirty="0"/>
              <a:t>Codex (2021): When LLMs Entered the Picture</a:t>
            </a:r>
            <a:endParaRPr lang="en-IN" sz="3200" b="1" dirty="0"/>
          </a:p>
        </p:txBody>
      </p:sp>
      <p:sp>
        <p:nvSpPr>
          <p:cNvPr id="3" name="Content Placeholder 2">
            <a:extLst>
              <a:ext uri="{FF2B5EF4-FFF2-40B4-BE49-F238E27FC236}">
                <a16:creationId xmlns:a16="http://schemas.microsoft.com/office/drawing/2014/main" id="{AC1C7F82-8F79-B520-1ED0-5314D0063511}"/>
              </a:ext>
            </a:extLst>
          </p:cNvPr>
          <p:cNvSpPr>
            <a:spLocks noGrp="1"/>
          </p:cNvSpPr>
          <p:nvPr>
            <p:ph idx="1"/>
          </p:nvPr>
        </p:nvSpPr>
        <p:spPr>
          <a:xfrm>
            <a:off x="838200" y="1508166"/>
            <a:ext cx="10811494" cy="4984709"/>
          </a:xfrm>
        </p:spPr>
        <p:txBody>
          <a:bodyPr>
            <a:noAutofit/>
          </a:bodyPr>
          <a:lstStyle/>
          <a:p>
            <a:pPr marL="0" indent="0">
              <a:buNone/>
            </a:pPr>
            <a:r>
              <a:rPr lang="en-IN" sz="2000" b="1" dirty="0"/>
              <a:t>The question:  </a:t>
            </a:r>
            <a:r>
              <a:rPr lang="en-IN" sz="2000" dirty="0"/>
              <a:t>Do you even need classical synthesis machinery with a large enough LLM?</a:t>
            </a:r>
          </a:p>
          <a:p>
            <a:pPr marL="0" indent="0">
              <a:buNone/>
            </a:pPr>
            <a:r>
              <a:rPr lang="en-IN" sz="2000" b="1" dirty="0"/>
              <a:t>Solution:</a:t>
            </a:r>
            <a:endParaRPr lang="en-IN" sz="2000" dirty="0"/>
          </a:p>
          <a:p>
            <a:pPr lvl="0"/>
            <a:r>
              <a:rPr lang="en-IN" sz="2000" dirty="0"/>
              <a:t>GPT-3 fine-tuned on publicly available GitHub code</a:t>
            </a:r>
          </a:p>
          <a:p>
            <a:pPr lvl="0"/>
            <a:r>
              <a:rPr lang="en-IN" sz="2000" dirty="0"/>
              <a:t>Natural language prompt or docstring → token prediction → candidate program</a:t>
            </a:r>
          </a:p>
          <a:p>
            <a:pPr lvl="0"/>
            <a:r>
              <a:rPr lang="en-IN" sz="2000" dirty="0"/>
              <a:t>No search, no DSL, no specification language</a:t>
            </a:r>
          </a:p>
          <a:p>
            <a:pPr lvl="0"/>
            <a:r>
              <a:rPr lang="en-IN" sz="2000" dirty="0"/>
              <a:t>Became foundation for GitHub Copilot</a:t>
            </a:r>
          </a:p>
          <a:p>
            <a:pPr marL="0" indent="0">
              <a:buNone/>
            </a:pPr>
            <a:endParaRPr lang="en-IN" sz="2000" dirty="0"/>
          </a:p>
        </p:txBody>
      </p:sp>
      <p:pic>
        <p:nvPicPr>
          <p:cNvPr id="5" name="Picture 4">
            <a:extLst>
              <a:ext uri="{FF2B5EF4-FFF2-40B4-BE49-F238E27FC236}">
                <a16:creationId xmlns:a16="http://schemas.microsoft.com/office/drawing/2014/main" id="{0F8D92C0-BC3B-F583-A2DD-9735142F82BB}"/>
              </a:ext>
            </a:extLst>
          </p:cNvPr>
          <p:cNvPicPr>
            <a:picLocks noChangeAspect="1"/>
          </p:cNvPicPr>
          <p:nvPr/>
        </p:nvPicPr>
        <p:blipFill>
          <a:blip r:embed="rId3"/>
          <a:stretch>
            <a:fillRect/>
          </a:stretch>
        </p:blipFill>
        <p:spPr>
          <a:xfrm>
            <a:off x="3058176" y="3858082"/>
            <a:ext cx="7192158" cy="1803583"/>
          </a:xfrm>
          <a:prstGeom prst="rect">
            <a:avLst/>
          </a:prstGeom>
        </p:spPr>
      </p:pic>
      <p:sp>
        <p:nvSpPr>
          <p:cNvPr id="6" name="TextBox 5">
            <a:extLst>
              <a:ext uri="{FF2B5EF4-FFF2-40B4-BE49-F238E27FC236}">
                <a16:creationId xmlns:a16="http://schemas.microsoft.com/office/drawing/2014/main" id="{B806302D-385F-DFED-9F58-808B5B7DC57B}"/>
              </a:ext>
            </a:extLst>
          </p:cNvPr>
          <p:cNvSpPr txBox="1"/>
          <p:nvPr/>
        </p:nvSpPr>
        <p:spPr>
          <a:xfrm>
            <a:off x="5006989" y="5753531"/>
            <a:ext cx="3425811" cy="647478"/>
          </a:xfrm>
          <a:prstGeom prst="rect">
            <a:avLst/>
          </a:prstGeom>
          <a:noFill/>
        </p:spPr>
        <p:txBody>
          <a:bodyPr wrap="square" rtlCol="0">
            <a:spAutoFit/>
          </a:bodyPr>
          <a:lstStyle/>
          <a:p>
            <a:r>
              <a:rPr lang="en-US" dirty="0"/>
              <a:t>White = prompt given by user. </a:t>
            </a:r>
          </a:p>
          <a:p>
            <a:r>
              <a:rPr lang="en-US" dirty="0"/>
              <a:t>Yellow = code generated by Codex.</a:t>
            </a:r>
            <a:endParaRPr lang="en-IN" dirty="0"/>
          </a:p>
        </p:txBody>
      </p:sp>
      <p:sp>
        <p:nvSpPr>
          <p:cNvPr id="7" name="Slide Number Placeholder 6">
            <a:extLst>
              <a:ext uri="{FF2B5EF4-FFF2-40B4-BE49-F238E27FC236}">
                <a16:creationId xmlns:a16="http://schemas.microsoft.com/office/drawing/2014/main" id="{0F6CF7E2-9626-201B-F7FB-B53454F9BD8D}"/>
              </a:ext>
            </a:extLst>
          </p:cNvPr>
          <p:cNvSpPr>
            <a:spLocks noGrp="1"/>
          </p:cNvSpPr>
          <p:nvPr>
            <p:ph type="sldNum" sz="quarter" idx="12"/>
          </p:nvPr>
        </p:nvSpPr>
        <p:spPr/>
        <p:txBody>
          <a:bodyPr/>
          <a:lstStyle/>
          <a:p>
            <a:fld id="{C0193642-6B89-44F9-93BF-426518C66F90}" type="slidenum">
              <a:rPr lang="en-IN" smtClean="0"/>
              <a:t>14</a:t>
            </a:fld>
            <a:endParaRPr lang="en-IN"/>
          </a:p>
        </p:txBody>
      </p:sp>
    </p:spTree>
    <p:extLst>
      <p:ext uri="{BB962C8B-B14F-4D97-AF65-F5344CB8AC3E}">
        <p14:creationId xmlns:p14="http://schemas.microsoft.com/office/powerpoint/2010/main" val="147693219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3A1F90-A107-5E8D-B210-2FD15589FE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167CB5-FB13-DB10-179A-FA57AB0BAD7D}"/>
              </a:ext>
            </a:extLst>
          </p:cNvPr>
          <p:cNvSpPr>
            <a:spLocks noGrp="1"/>
          </p:cNvSpPr>
          <p:nvPr>
            <p:ph type="title"/>
          </p:nvPr>
        </p:nvSpPr>
        <p:spPr/>
        <p:txBody>
          <a:bodyPr>
            <a:normAutofit/>
          </a:bodyPr>
          <a:lstStyle/>
          <a:p>
            <a:r>
              <a:rPr lang="en-IN" sz="3200" b="1" dirty="0"/>
              <a:t>Codex: Evaluation + Limitations</a:t>
            </a:r>
          </a:p>
        </p:txBody>
      </p:sp>
      <p:sp>
        <p:nvSpPr>
          <p:cNvPr id="3" name="Content Placeholder 2">
            <a:extLst>
              <a:ext uri="{FF2B5EF4-FFF2-40B4-BE49-F238E27FC236}">
                <a16:creationId xmlns:a16="http://schemas.microsoft.com/office/drawing/2014/main" id="{F43F001A-936C-AA0E-3520-80C8E058CB19}"/>
              </a:ext>
            </a:extLst>
          </p:cNvPr>
          <p:cNvSpPr>
            <a:spLocks noGrp="1"/>
          </p:cNvSpPr>
          <p:nvPr>
            <p:ph idx="1"/>
          </p:nvPr>
        </p:nvSpPr>
        <p:spPr>
          <a:xfrm>
            <a:off x="838200" y="1508166"/>
            <a:ext cx="10811494" cy="4984709"/>
          </a:xfrm>
        </p:spPr>
        <p:txBody>
          <a:bodyPr>
            <a:noAutofit/>
          </a:bodyPr>
          <a:lstStyle/>
          <a:p>
            <a:pPr marL="0" indent="0">
              <a:buNone/>
            </a:pPr>
            <a:r>
              <a:rPr lang="en-IN" sz="1800" b="1" dirty="0"/>
              <a:t>Evaluation:</a:t>
            </a:r>
            <a:endParaRPr lang="en-IN" sz="1800" dirty="0"/>
          </a:p>
          <a:p>
            <a:pPr lvl="0"/>
            <a:r>
              <a:rPr lang="en-IN" sz="1800" dirty="0" err="1"/>
              <a:t>HumanEval</a:t>
            </a:r>
            <a:r>
              <a:rPr lang="en-IN" sz="1800" dirty="0"/>
              <a:t>: 164 hand-written Python problems with unit tests</a:t>
            </a:r>
          </a:p>
          <a:p>
            <a:pPr lvl="0"/>
            <a:r>
              <a:rPr lang="en-IN" sz="1800" dirty="0"/>
              <a:t>28.8% pass@1: correct on first try</a:t>
            </a:r>
          </a:p>
          <a:p>
            <a:pPr lvl="0"/>
            <a:r>
              <a:rPr lang="en-IN" sz="1800" dirty="0"/>
              <a:t>70.2% pass@100: correct within 100 samples</a:t>
            </a:r>
          </a:p>
          <a:p>
            <a:pPr lvl="0"/>
            <a:r>
              <a:rPr lang="en-IN" sz="1800" dirty="0"/>
              <a:t>Significantly exceeded all prior language models on code tasks</a:t>
            </a:r>
          </a:p>
          <a:p>
            <a:pPr lvl="0"/>
            <a:r>
              <a:rPr lang="en-IN" sz="1800" dirty="0"/>
              <a:t>Reset practical expectations across the entire field</a:t>
            </a:r>
          </a:p>
          <a:p>
            <a:pPr marL="0" indent="0">
              <a:buNone/>
            </a:pPr>
            <a:r>
              <a:rPr lang="en-IN" sz="1800" b="1" dirty="0"/>
              <a:t>Limitations:</a:t>
            </a:r>
            <a:endParaRPr lang="en-IN" sz="1800" dirty="0"/>
          </a:p>
          <a:p>
            <a:pPr lvl="0"/>
            <a:r>
              <a:rPr lang="en-IN" sz="1800" dirty="0"/>
              <a:t>No notion of specification, no correctness guarantee</a:t>
            </a:r>
          </a:p>
          <a:p>
            <a:pPr lvl="0"/>
            <a:r>
              <a:rPr lang="en-IN" sz="1800" dirty="0"/>
              <a:t>LLMs predict likely tokens, synthesis requires provably correct programs: structurally different problems</a:t>
            </a:r>
          </a:p>
          <a:p>
            <a:pPr lvl="0"/>
            <a:r>
              <a:rPr lang="en-IN" sz="1800" dirty="0"/>
              <a:t>Fails on novel algorithms, edge cases, precise reasoning</a:t>
            </a:r>
          </a:p>
          <a:p>
            <a:pPr lvl="0"/>
            <a:r>
              <a:rPr lang="en-IN" sz="1800" dirty="0"/>
              <a:t>Code looks plausible but can fail silently on untested inputs</a:t>
            </a:r>
          </a:p>
          <a:p>
            <a:pPr marL="0" indent="0">
              <a:buNone/>
            </a:pPr>
            <a:endParaRPr lang="en-IN" sz="1800" dirty="0"/>
          </a:p>
          <a:p>
            <a:pPr marL="0" indent="0">
              <a:buNone/>
            </a:pPr>
            <a:r>
              <a:rPr lang="en-IN" sz="1800" dirty="0"/>
              <a:t>Fast and flexible but no formal guarantees. LILO asks: what if you keep the LLM speed but add back the classical structure?</a:t>
            </a:r>
          </a:p>
          <a:p>
            <a:pPr marL="0" indent="0">
              <a:buNone/>
            </a:pPr>
            <a:endParaRPr lang="en-IN" sz="2000" dirty="0"/>
          </a:p>
        </p:txBody>
      </p:sp>
      <p:pic>
        <p:nvPicPr>
          <p:cNvPr id="5" name="Picture 4">
            <a:extLst>
              <a:ext uri="{FF2B5EF4-FFF2-40B4-BE49-F238E27FC236}">
                <a16:creationId xmlns:a16="http://schemas.microsoft.com/office/drawing/2014/main" id="{D4311B9E-63FE-C5C4-077D-F59657560B70}"/>
              </a:ext>
            </a:extLst>
          </p:cNvPr>
          <p:cNvPicPr>
            <a:picLocks noChangeAspect="1"/>
          </p:cNvPicPr>
          <p:nvPr/>
        </p:nvPicPr>
        <p:blipFill>
          <a:blip r:embed="rId3"/>
          <a:stretch>
            <a:fillRect/>
          </a:stretch>
        </p:blipFill>
        <p:spPr>
          <a:xfrm>
            <a:off x="7833275" y="1690688"/>
            <a:ext cx="3366146" cy="2175048"/>
          </a:xfrm>
          <a:prstGeom prst="rect">
            <a:avLst/>
          </a:prstGeom>
        </p:spPr>
      </p:pic>
      <p:sp>
        <p:nvSpPr>
          <p:cNvPr id="10" name="Slide Number Placeholder 9">
            <a:extLst>
              <a:ext uri="{FF2B5EF4-FFF2-40B4-BE49-F238E27FC236}">
                <a16:creationId xmlns:a16="http://schemas.microsoft.com/office/drawing/2014/main" id="{6DC3A04D-4B31-5E39-0FE7-CF94B658C1BF}"/>
              </a:ext>
            </a:extLst>
          </p:cNvPr>
          <p:cNvSpPr>
            <a:spLocks noGrp="1"/>
          </p:cNvSpPr>
          <p:nvPr>
            <p:ph type="sldNum" sz="quarter" idx="12"/>
          </p:nvPr>
        </p:nvSpPr>
        <p:spPr/>
        <p:txBody>
          <a:bodyPr/>
          <a:lstStyle/>
          <a:p>
            <a:fld id="{C0193642-6B89-44F9-93BF-426518C66F90}" type="slidenum">
              <a:rPr lang="en-IN" smtClean="0"/>
              <a:t>15</a:t>
            </a:fld>
            <a:endParaRPr lang="en-IN"/>
          </a:p>
        </p:txBody>
      </p:sp>
    </p:spTree>
    <p:extLst>
      <p:ext uri="{BB962C8B-B14F-4D97-AF65-F5344CB8AC3E}">
        <p14:creationId xmlns:p14="http://schemas.microsoft.com/office/powerpoint/2010/main" val="294547987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0B09E3-1B26-0F1D-767A-B651E680C0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82E90F3-7C0E-9DE2-70F6-D48EC27D437A}"/>
              </a:ext>
            </a:extLst>
          </p:cNvPr>
          <p:cNvSpPr>
            <a:spLocks noGrp="1"/>
          </p:cNvSpPr>
          <p:nvPr>
            <p:ph type="title"/>
          </p:nvPr>
        </p:nvSpPr>
        <p:spPr/>
        <p:txBody>
          <a:bodyPr>
            <a:normAutofit/>
          </a:bodyPr>
          <a:lstStyle/>
          <a:p>
            <a:r>
              <a:rPr lang="en-US" sz="3200" b="1" dirty="0"/>
              <a:t>LILO (2024): The Best of Both Worlds</a:t>
            </a:r>
            <a:endParaRPr lang="en-IN" sz="3200" b="1" dirty="0"/>
          </a:p>
        </p:txBody>
      </p:sp>
      <p:sp>
        <p:nvSpPr>
          <p:cNvPr id="3" name="Content Placeholder 2">
            <a:extLst>
              <a:ext uri="{FF2B5EF4-FFF2-40B4-BE49-F238E27FC236}">
                <a16:creationId xmlns:a16="http://schemas.microsoft.com/office/drawing/2014/main" id="{7069B1FC-6BF5-A838-C365-6FC4654F3483}"/>
              </a:ext>
            </a:extLst>
          </p:cNvPr>
          <p:cNvSpPr>
            <a:spLocks noGrp="1"/>
          </p:cNvSpPr>
          <p:nvPr>
            <p:ph idx="1"/>
          </p:nvPr>
        </p:nvSpPr>
        <p:spPr>
          <a:xfrm>
            <a:off x="838201" y="1508167"/>
            <a:ext cx="5990112" cy="4607626"/>
          </a:xfrm>
        </p:spPr>
        <p:txBody>
          <a:bodyPr>
            <a:noAutofit/>
          </a:bodyPr>
          <a:lstStyle/>
          <a:p>
            <a:pPr marL="0" indent="0">
              <a:buNone/>
            </a:pPr>
            <a:r>
              <a:rPr lang="en-US" sz="1800" b="1" dirty="0"/>
              <a:t>Problem:</a:t>
            </a:r>
            <a:endParaRPr lang="en-US" sz="1800" dirty="0"/>
          </a:p>
          <a:p>
            <a:r>
              <a:rPr lang="en-US" sz="1800" dirty="0" err="1"/>
              <a:t>DreamCoder</a:t>
            </a:r>
            <a:r>
              <a:rPr lang="en-US" sz="1800" dirty="0"/>
              <a:t>: powerful library learning but enumerative search is slow</a:t>
            </a:r>
          </a:p>
          <a:p>
            <a:r>
              <a:rPr lang="en-US" sz="1800" dirty="0"/>
              <a:t>Codex: fast generation but no accumulated knowledge, no correctness</a:t>
            </a:r>
          </a:p>
          <a:p>
            <a:r>
              <a:rPr lang="en-US" sz="1800" dirty="0"/>
              <a:t>Can we get LLM speed without giving up classical structure?</a:t>
            </a:r>
          </a:p>
          <a:p>
            <a:pPr marL="0" indent="0">
              <a:buNone/>
            </a:pPr>
            <a:r>
              <a:rPr lang="en-US" sz="1800" b="1" dirty="0"/>
              <a:t>Solution:</a:t>
            </a:r>
            <a:endParaRPr lang="en-US" sz="1800" dirty="0"/>
          </a:p>
          <a:p>
            <a:r>
              <a:rPr lang="en-US" sz="1800" dirty="0"/>
              <a:t>Replaces enumerative search in wake phase with LLM-guided synthesis</a:t>
            </a:r>
          </a:p>
          <a:p>
            <a:r>
              <a:rPr lang="en-US" sz="1800" dirty="0"/>
              <a:t>Sleep phase keeps </a:t>
            </a:r>
            <a:r>
              <a:rPr lang="en-US" sz="1800" dirty="0" err="1"/>
              <a:t>DreamCoder's</a:t>
            </a:r>
            <a:r>
              <a:rPr lang="en-US" sz="1800" dirty="0"/>
              <a:t> compression and abstraction unchanged</a:t>
            </a:r>
          </a:p>
          <a:p>
            <a:r>
              <a:rPr lang="en-US" sz="1800" dirty="0"/>
              <a:t>LLM generates candidates fast, classical machinery verifies and compresses</a:t>
            </a:r>
          </a:p>
          <a:p>
            <a:r>
              <a:rPr lang="en-US" sz="1800" dirty="0"/>
              <a:t>Novel addition: auto-documentation generates readable names for learned functions</a:t>
            </a:r>
          </a:p>
          <a:p>
            <a:pPr marL="0" indent="0">
              <a:buNone/>
            </a:pPr>
            <a:endParaRPr lang="en-IN" sz="2000" dirty="0"/>
          </a:p>
        </p:txBody>
      </p:sp>
      <p:pic>
        <p:nvPicPr>
          <p:cNvPr id="5" name="Picture 4">
            <a:extLst>
              <a:ext uri="{FF2B5EF4-FFF2-40B4-BE49-F238E27FC236}">
                <a16:creationId xmlns:a16="http://schemas.microsoft.com/office/drawing/2014/main" id="{40DC0436-C243-88FE-8D4E-7D4AFEC1D263}"/>
              </a:ext>
            </a:extLst>
          </p:cNvPr>
          <p:cNvPicPr>
            <a:picLocks noChangeAspect="1"/>
          </p:cNvPicPr>
          <p:nvPr/>
        </p:nvPicPr>
        <p:blipFill>
          <a:blip r:embed="rId3"/>
          <a:stretch>
            <a:fillRect/>
          </a:stretch>
        </p:blipFill>
        <p:spPr>
          <a:xfrm>
            <a:off x="7049757" y="2144784"/>
            <a:ext cx="4813692" cy="3334391"/>
          </a:xfrm>
          <a:prstGeom prst="rect">
            <a:avLst/>
          </a:prstGeom>
        </p:spPr>
      </p:pic>
      <p:sp>
        <p:nvSpPr>
          <p:cNvPr id="4" name="Slide Number Placeholder 3">
            <a:extLst>
              <a:ext uri="{FF2B5EF4-FFF2-40B4-BE49-F238E27FC236}">
                <a16:creationId xmlns:a16="http://schemas.microsoft.com/office/drawing/2014/main" id="{D640E203-5235-577E-3DA1-C1FAC14FA5BE}"/>
              </a:ext>
            </a:extLst>
          </p:cNvPr>
          <p:cNvSpPr>
            <a:spLocks noGrp="1"/>
          </p:cNvSpPr>
          <p:nvPr>
            <p:ph type="sldNum" sz="quarter" idx="12"/>
          </p:nvPr>
        </p:nvSpPr>
        <p:spPr/>
        <p:txBody>
          <a:bodyPr/>
          <a:lstStyle/>
          <a:p>
            <a:fld id="{C0193642-6B89-44F9-93BF-426518C66F90}" type="slidenum">
              <a:rPr lang="en-IN" smtClean="0"/>
              <a:t>16</a:t>
            </a:fld>
            <a:endParaRPr lang="en-IN"/>
          </a:p>
        </p:txBody>
      </p:sp>
    </p:spTree>
    <p:extLst>
      <p:ext uri="{BB962C8B-B14F-4D97-AF65-F5344CB8AC3E}">
        <p14:creationId xmlns:p14="http://schemas.microsoft.com/office/powerpoint/2010/main" val="162720750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086FDFB-45AF-98C3-4635-CA62DE67BA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4507A8A-BC66-991D-073E-0C7D062A4D14}"/>
              </a:ext>
            </a:extLst>
          </p:cNvPr>
          <p:cNvSpPr>
            <a:spLocks noGrp="1"/>
          </p:cNvSpPr>
          <p:nvPr>
            <p:ph type="title"/>
          </p:nvPr>
        </p:nvSpPr>
        <p:spPr/>
        <p:txBody>
          <a:bodyPr>
            <a:normAutofit/>
          </a:bodyPr>
          <a:lstStyle/>
          <a:p>
            <a:r>
              <a:rPr lang="en-US" sz="3200" b="1" dirty="0"/>
              <a:t>LILO (2024): The Best of Both Worlds</a:t>
            </a:r>
            <a:endParaRPr lang="en-IN" sz="3200" b="1" dirty="0"/>
          </a:p>
        </p:txBody>
      </p:sp>
      <p:sp>
        <p:nvSpPr>
          <p:cNvPr id="3" name="Content Placeholder 2">
            <a:extLst>
              <a:ext uri="{FF2B5EF4-FFF2-40B4-BE49-F238E27FC236}">
                <a16:creationId xmlns:a16="http://schemas.microsoft.com/office/drawing/2014/main" id="{C4886570-F9AE-E3AC-54B8-E84940C8B26C}"/>
              </a:ext>
            </a:extLst>
          </p:cNvPr>
          <p:cNvSpPr>
            <a:spLocks noGrp="1"/>
          </p:cNvSpPr>
          <p:nvPr>
            <p:ph idx="1"/>
          </p:nvPr>
        </p:nvSpPr>
        <p:spPr>
          <a:xfrm>
            <a:off x="838201" y="1508167"/>
            <a:ext cx="5990112" cy="4607626"/>
          </a:xfrm>
        </p:spPr>
        <p:txBody>
          <a:bodyPr>
            <a:noAutofit/>
          </a:bodyPr>
          <a:lstStyle/>
          <a:p>
            <a:pPr marL="0" indent="0">
              <a:buNone/>
            </a:pPr>
            <a:r>
              <a:rPr lang="en-US" sz="1800" b="1" dirty="0"/>
              <a:t>Problem:</a:t>
            </a:r>
            <a:endParaRPr lang="en-US" sz="1800" dirty="0"/>
          </a:p>
          <a:p>
            <a:r>
              <a:rPr lang="en-US" sz="1800" dirty="0" err="1"/>
              <a:t>DreamCoder</a:t>
            </a:r>
            <a:r>
              <a:rPr lang="en-US" sz="1800" dirty="0"/>
              <a:t>: powerful library learning but enumerative search is slow</a:t>
            </a:r>
          </a:p>
          <a:p>
            <a:r>
              <a:rPr lang="en-US" sz="1800" dirty="0"/>
              <a:t>Codex: fast generation but no accumulated knowledge, no correctness</a:t>
            </a:r>
          </a:p>
          <a:p>
            <a:r>
              <a:rPr lang="en-US" sz="1800" dirty="0"/>
              <a:t>Can we get LLM speed without giving up classical structure?</a:t>
            </a:r>
          </a:p>
          <a:p>
            <a:pPr marL="0" indent="0">
              <a:buNone/>
            </a:pPr>
            <a:r>
              <a:rPr lang="en-US" sz="1800" b="1" dirty="0"/>
              <a:t>Solution:</a:t>
            </a:r>
            <a:endParaRPr lang="en-US" sz="1800" dirty="0"/>
          </a:p>
          <a:p>
            <a:r>
              <a:rPr lang="en-US" sz="1800" dirty="0"/>
              <a:t>Replaces enumerative search in wake phase with LLM-guided synthesis</a:t>
            </a:r>
          </a:p>
          <a:p>
            <a:r>
              <a:rPr lang="en-US" sz="1800" dirty="0"/>
              <a:t>Sleep phase keeps </a:t>
            </a:r>
            <a:r>
              <a:rPr lang="en-US" sz="1800" dirty="0" err="1"/>
              <a:t>DreamCoder's</a:t>
            </a:r>
            <a:r>
              <a:rPr lang="en-US" sz="1800" dirty="0"/>
              <a:t> compression and abstraction unchanged</a:t>
            </a:r>
          </a:p>
          <a:p>
            <a:r>
              <a:rPr lang="en-US" sz="1800" dirty="0"/>
              <a:t>LLM generates candidates fast, classical machinery verifies and compresses</a:t>
            </a:r>
          </a:p>
          <a:p>
            <a:r>
              <a:rPr lang="en-US" sz="1800" dirty="0"/>
              <a:t>Novel addition: auto-documentation generates readable names for learned functions</a:t>
            </a:r>
          </a:p>
          <a:p>
            <a:pPr marL="0" indent="0">
              <a:buNone/>
            </a:pPr>
            <a:endParaRPr lang="en-IN" sz="2000" dirty="0"/>
          </a:p>
        </p:txBody>
      </p:sp>
      <p:pic>
        <p:nvPicPr>
          <p:cNvPr id="5" name="Picture 4">
            <a:extLst>
              <a:ext uri="{FF2B5EF4-FFF2-40B4-BE49-F238E27FC236}">
                <a16:creationId xmlns:a16="http://schemas.microsoft.com/office/drawing/2014/main" id="{DD6BA218-145D-1D85-8207-D1F9906341A0}"/>
              </a:ext>
            </a:extLst>
          </p:cNvPr>
          <p:cNvPicPr>
            <a:picLocks noChangeAspect="1"/>
          </p:cNvPicPr>
          <p:nvPr/>
        </p:nvPicPr>
        <p:blipFill>
          <a:blip r:embed="rId3"/>
          <a:stretch>
            <a:fillRect/>
          </a:stretch>
        </p:blipFill>
        <p:spPr>
          <a:xfrm>
            <a:off x="7049757" y="2144784"/>
            <a:ext cx="4813692" cy="3334391"/>
          </a:xfrm>
          <a:prstGeom prst="rect">
            <a:avLst/>
          </a:prstGeom>
        </p:spPr>
      </p:pic>
      <p:sp>
        <p:nvSpPr>
          <p:cNvPr id="6" name="Rectangle 5">
            <a:extLst>
              <a:ext uri="{FF2B5EF4-FFF2-40B4-BE49-F238E27FC236}">
                <a16:creationId xmlns:a16="http://schemas.microsoft.com/office/drawing/2014/main" id="{DB275141-1E4C-5F91-FED1-72318BACC344}"/>
              </a:ext>
            </a:extLst>
          </p:cNvPr>
          <p:cNvSpPr/>
          <p:nvPr/>
        </p:nvSpPr>
        <p:spPr>
          <a:xfrm>
            <a:off x="7179733" y="2404533"/>
            <a:ext cx="4445000" cy="1574800"/>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endParaRPr>
          </a:p>
        </p:txBody>
      </p:sp>
      <p:sp>
        <p:nvSpPr>
          <p:cNvPr id="7" name="Slide Number Placeholder 6">
            <a:extLst>
              <a:ext uri="{FF2B5EF4-FFF2-40B4-BE49-F238E27FC236}">
                <a16:creationId xmlns:a16="http://schemas.microsoft.com/office/drawing/2014/main" id="{75CE43D6-F537-AA39-2F34-92934B1CC5AF}"/>
              </a:ext>
            </a:extLst>
          </p:cNvPr>
          <p:cNvSpPr>
            <a:spLocks noGrp="1"/>
          </p:cNvSpPr>
          <p:nvPr>
            <p:ph type="sldNum" sz="quarter" idx="12"/>
          </p:nvPr>
        </p:nvSpPr>
        <p:spPr/>
        <p:txBody>
          <a:bodyPr/>
          <a:lstStyle/>
          <a:p>
            <a:r>
              <a:rPr lang="en-IN" dirty="0"/>
              <a:t>16</a:t>
            </a:r>
          </a:p>
        </p:txBody>
      </p:sp>
    </p:spTree>
    <p:extLst>
      <p:ext uri="{BB962C8B-B14F-4D97-AF65-F5344CB8AC3E}">
        <p14:creationId xmlns:p14="http://schemas.microsoft.com/office/powerpoint/2010/main" val="202214610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7C7B08-9BE6-B161-6457-4DB1E8E6A95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B3B8DD5-3AE0-4911-4456-3D0532D5271A}"/>
              </a:ext>
            </a:extLst>
          </p:cNvPr>
          <p:cNvSpPr>
            <a:spLocks noGrp="1"/>
          </p:cNvSpPr>
          <p:nvPr>
            <p:ph type="title"/>
          </p:nvPr>
        </p:nvSpPr>
        <p:spPr/>
        <p:txBody>
          <a:bodyPr>
            <a:normAutofit/>
          </a:bodyPr>
          <a:lstStyle/>
          <a:p>
            <a:r>
              <a:rPr lang="en-US" sz="3200" b="1" dirty="0"/>
              <a:t>LILO (2024): The Best of Both Worlds</a:t>
            </a:r>
            <a:endParaRPr lang="en-IN" sz="3200" b="1" dirty="0"/>
          </a:p>
        </p:txBody>
      </p:sp>
      <p:sp>
        <p:nvSpPr>
          <p:cNvPr id="3" name="Content Placeholder 2">
            <a:extLst>
              <a:ext uri="{FF2B5EF4-FFF2-40B4-BE49-F238E27FC236}">
                <a16:creationId xmlns:a16="http://schemas.microsoft.com/office/drawing/2014/main" id="{A32C84B6-0AEA-9D30-87A0-EECAB3D25432}"/>
              </a:ext>
            </a:extLst>
          </p:cNvPr>
          <p:cNvSpPr>
            <a:spLocks noGrp="1"/>
          </p:cNvSpPr>
          <p:nvPr>
            <p:ph idx="1"/>
          </p:nvPr>
        </p:nvSpPr>
        <p:spPr>
          <a:xfrm>
            <a:off x="838201" y="1508167"/>
            <a:ext cx="5990112" cy="4607626"/>
          </a:xfrm>
        </p:spPr>
        <p:txBody>
          <a:bodyPr>
            <a:noAutofit/>
          </a:bodyPr>
          <a:lstStyle/>
          <a:p>
            <a:pPr marL="0" indent="0">
              <a:buNone/>
            </a:pPr>
            <a:r>
              <a:rPr lang="en-US" sz="1800" b="1" dirty="0"/>
              <a:t>Problem:</a:t>
            </a:r>
            <a:endParaRPr lang="en-US" sz="1800" dirty="0"/>
          </a:p>
          <a:p>
            <a:r>
              <a:rPr lang="en-US" sz="1800" dirty="0" err="1"/>
              <a:t>DreamCoder</a:t>
            </a:r>
            <a:r>
              <a:rPr lang="en-US" sz="1800" dirty="0"/>
              <a:t>: powerful library learning but enumerative search is slow</a:t>
            </a:r>
          </a:p>
          <a:p>
            <a:r>
              <a:rPr lang="en-US" sz="1800" dirty="0"/>
              <a:t>Codex: fast generation but no accumulated knowledge, no correctness</a:t>
            </a:r>
          </a:p>
          <a:p>
            <a:r>
              <a:rPr lang="en-US" sz="1800" dirty="0"/>
              <a:t>Can we get LLM speed without giving up classical structure?</a:t>
            </a:r>
          </a:p>
          <a:p>
            <a:pPr marL="0" indent="0">
              <a:buNone/>
            </a:pPr>
            <a:r>
              <a:rPr lang="en-US" sz="1800" b="1" dirty="0"/>
              <a:t>Solution:</a:t>
            </a:r>
            <a:endParaRPr lang="en-US" sz="1800" dirty="0"/>
          </a:p>
          <a:p>
            <a:r>
              <a:rPr lang="en-US" sz="1800" dirty="0"/>
              <a:t>Replaces enumerative search in wake phase with LLM-guided synthesis</a:t>
            </a:r>
          </a:p>
          <a:p>
            <a:r>
              <a:rPr lang="en-US" sz="1800" dirty="0"/>
              <a:t>Sleep phase keeps </a:t>
            </a:r>
            <a:r>
              <a:rPr lang="en-US" sz="1800" dirty="0" err="1"/>
              <a:t>DreamCoder's</a:t>
            </a:r>
            <a:r>
              <a:rPr lang="en-US" sz="1800" dirty="0"/>
              <a:t> compression and abstraction unchanged</a:t>
            </a:r>
          </a:p>
          <a:p>
            <a:r>
              <a:rPr lang="en-US" sz="1800" dirty="0"/>
              <a:t>LLM generates candidates fast, classical machinery verifies and compresses</a:t>
            </a:r>
          </a:p>
          <a:p>
            <a:r>
              <a:rPr lang="en-US" sz="1800" dirty="0"/>
              <a:t>Novel addition: auto-documentation generates readable names for learned functions</a:t>
            </a:r>
          </a:p>
          <a:p>
            <a:pPr marL="0" indent="0">
              <a:buNone/>
            </a:pPr>
            <a:endParaRPr lang="en-IN" sz="2000" dirty="0"/>
          </a:p>
        </p:txBody>
      </p:sp>
      <p:pic>
        <p:nvPicPr>
          <p:cNvPr id="5" name="Picture 4">
            <a:extLst>
              <a:ext uri="{FF2B5EF4-FFF2-40B4-BE49-F238E27FC236}">
                <a16:creationId xmlns:a16="http://schemas.microsoft.com/office/drawing/2014/main" id="{CFC7E859-9E4D-1CFF-799E-20B26FC3788F}"/>
              </a:ext>
            </a:extLst>
          </p:cNvPr>
          <p:cNvPicPr>
            <a:picLocks noChangeAspect="1"/>
          </p:cNvPicPr>
          <p:nvPr/>
        </p:nvPicPr>
        <p:blipFill>
          <a:blip r:embed="rId3"/>
          <a:stretch>
            <a:fillRect/>
          </a:stretch>
        </p:blipFill>
        <p:spPr>
          <a:xfrm>
            <a:off x="7049757" y="2144784"/>
            <a:ext cx="4813692" cy="3334391"/>
          </a:xfrm>
          <a:prstGeom prst="rect">
            <a:avLst/>
          </a:prstGeom>
        </p:spPr>
      </p:pic>
      <p:sp>
        <p:nvSpPr>
          <p:cNvPr id="6" name="Rectangle 5">
            <a:extLst>
              <a:ext uri="{FF2B5EF4-FFF2-40B4-BE49-F238E27FC236}">
                <a16:creationId xmlns:a16="http://schemas.microsoft.com/office/drawing/2014/main" id="{BA7ACBB7-0144-5599-1C13-D90DFBDA40B2}"/>
              </a:ext>
            </a:extLst>
          </p:cNvPr>
          <p:cNvSpPr/>
          <p:nvPr/>
        </p:nvSpPr>
        <p:spPr>
          <a:xfrm>
            <a:off x="10278533" y="4004733"/>
            <a:ext cx="1439334" cy="147444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endParaRPr>
          </a:p>
        </p:txBody>
      </p:sp>
      <p:sp>
        <p:nvSpPr>
          <p:cNvPr id="4" name="Slide Number Placeholder 3">
            <a:extLst>
              <a:ext uri="{FF2B5EF4-FFF2-40B4-BE49-F238E27FC236}">
                <a16:creationId xmlns:a16="http://schemas.microsoft.com/office/drawing/2014/main" id="{D0DBC058-A187-A5D1-C156-47C949D46B4B}"/>
              </a:ext>
            </a:extLst>
          </p:cNvPr>
          <p:cNvSpPr>
            <a:spLocks noGrp="1"/>
          </p:cNvSpPr>
          <p:nvPr>
            <p:ph type="sldNum" sz="quarter" idx="12"/>
          </p:nvPr>
        </p:nvSpPr>
        <p:spPr/>
        <p:txBody>
          <a:bodyPr/>
          <a:lstStyle/>
          <a:p>
            <a:r>
              <a:rPr lang="en-IN" dirty="0"/>
              <a:t>16</a:t>
            </a:r>
          </a:p>
        </p:txBody>
      </p:sp>
    </p:spTree>
    <p:extLst>
      <p:ext uri="{BB962C8B-B14F-4D97-AF65-F5344CB8AC3E}">
        <p14:creationId xmlns:p14="http://schemas.microsoft.com/office/powerpoint/2010/main" val="82922091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5347452-71B4-7EC0-0D1C-F500AB9C1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0108156-5F29-93D7-34AB-22302E5AEA3D}"/>
              </a:ext>
            </a:extLst>
          </p:cNvPr>
          <p:cNvSpPr>
            <a:spLocks noGrp="1"/>
          </p:cNvSpPr>
          <p:nvPr>
            <p:ph type="title"/>
          </p:nvPr>
        </p:nvSpPr>
        <p:spPr/>
        <p:txBody>
          <a:bodyPr>
            <a:normAutofit/>
          </a:bodyPr>
          <a:lstStyle/>
          <a:p>
            <a:r>
              <a:rPr lang="en-US" sz="3200" b="1" dirty="0"/>
              <a:t>LILO (2024): The Best of Both Worlds</a:t>
            </a:r>
            <a:endParaRPr lang="en-IN" sz="3200" b="1" dirty="0"/>
          </a:p>
        </p:txBody>
      </p:sp>
      <p:sp>
        <p:nvSpPr>
          <p:cNvPr id="3" name="Content Placeholder 2">
            <a:extLst>
              <a:ext uri="{FF2B5EF4-FFF2-40B4-BE49-F238E27FC236}">
                <a16:creationId xmlns:a16="http://schemas.microsoft.com/office/drawing/2014/main" id="{C2DA9C5A-FD08-7D01-C10D-829F4F3E749F}"/>
              </a:ext>
            </a:extLst>
          </p:cNvPr>
          <p:cNvSpPr>
            <a:spLocks noGrp="1"/>
          </p:cNvSpPr>
          <p:nvPr>
            <p:ph idx="1"/>
          </p:nvPr>
        </p:nvSpPr>
        <p:spPr>
          <a:xfrm>
            <a:off x="838201" y="1508167"/>
            <a:ext cx="5990112" cy="4607626"/>
          </a:xfrm>
        </p:spPr>
        <p:txBody>
          <a:bodyPr>
            <a:noAutofit/>
          </a:bodyPr>
          <a:lstStyle/>
          <a:p>
            <a:pPr marL="0" indent="0">
              <a:buNone/>
            </a:pPr>
            <a:r>
              <a:rPr lang="en-US" sz="1800" b="1" dirty="0"/>
              <a:t>Problem:</a:t>
            </a:r>
            <a:endParaRPr lang="en-US" sz="1800" dirty="0"/>
          </a:p>
          <a:p>
            <a:r>
              <a:rPr lang="en-US" sz="1800" dirty="0" err="1"/>
              <a:t>DreamCoder</a:t>
            </a:r>
            <a:r>
              <a:rPr lang="en-US" sz="1800" dirty="0"/>
              <a:t>: powerful library learning but enumerative search is slow</a:t>
            </a:r>
          </a:p>
          <a:p>
            <a:r>
              <a:rPr lang="en-US" sz="1800" dirty="0"/>
              <a:t>Codex: fast generation but no accumulated knowledge, no correctness</a:t>
            </a:r>
          </a:p>
          <a:p>
            <a:r>
              <a:rPr lang="en-US" sz="1800" dirty="0"/>
              <a:t>Can we get LLM speed without giving up classical structure?</a:t>
            </a:r>
          </a:p>
          <a:p>
            <a:pPr marL="0" indent="0">
              <a:buNone/>
            </a:pPr>
            <a:r>
              <a:rPr lang="en-US" sz="1800" b="1" dirty="0"/>
              <a:t>Solution:</a:t>
            </a:r>
            <a:endParaRPr lang="en-US" sz="1800" dirty="0"/>
          </a:p>
          <a:p>
            <a:r>
              <a:rPr lang="en-US" sz="1800" dirty="0"/>
              <a:t>Replaces enumerative search in wake phase with LLM-guided synthesis</a:t>
            </a:r>
          </a:p>
          <a:p>
            <a:r>
              <a:rPr lang="en-US" sz="1800" dirty="0"/>
              <a:t>Sleep phase keeps </a:t>
            </a:r>
            <a:r>
              <a:rPr lang="en-US" sz="1800" dirty="0" err="1"/>
              <a:t>DreamCoder's</a:t>
            </a:r>
            <a:r>
              <a:rPr lang="en-US" sz="1800" dirty="0"/>
              <a:t> compression and abstraction unchanged</a:t>
            </a:r>
          </a:p>
          <a:p>
            <a:r>
              <a:rPr lang="en-US" sz="1800" dirty="0"/>
              <a:t>LLM generates candidates fast, classical machinery verifies and compresses</a:t>
            </a:r>
          </a:p>
          <a:p>
            <a:r>
              <a:rPr lang="en-US" sz="1800" dirty="0"/>
              <a:t>Novel addition: auto-documentation generates readable names for learned functions</a:t>
            </a:r>
          </a:p>
          <a:p>
            <a:pPr marL="0" indent="0">
              <a:buNone/>
            </a:pPr>
            <a:endParaRPr lang="en-IN" sz="2000" dirty="0"/>
          </a:p>
        </p:txBody>
      </p:sp>
      <p:pic>
        <p:nvPicPr>
          <p:cNvPr id="5" name="Picture 4">
            <a:extLst>
              <a:ext uri="{FF2B5EF4-FFF2-40B4-BE49-F238E27FC236}">
                <a16:creationId xmlns:a16="http://schemas.microsoft.com/office/drawing/2014/main" id="{C53FFB88-3B1D-FDE7-EB06-B1A720B746F7}"/>
              </a:ext>
            </a:extLst>
          </p:cNvPr>
          <p:cNvPicPr>
            <a:picLocks noChangeAspect="1"/>
          </p:cNvPicPr>
          <p:nvPr/>
        </p:nvPicPr>
        <p:blipFill>
          <a:blip r:embed="rId3"/>
          <a:stretch>
            <a:fillRect/>
          </a:stretch>
        </p:blipFill>
        <p:spPr>
          <a:xfrm>
            <a:off x="7049757" y="2144784"/>
            <a:ext cx="4813692" cy="3334391"/>
          </a:xfrm>
          <a:prstGeom prst="rect">
            <a:avLst/>
          </a:prstGeom>
        </p:spPr>
      </p:pic>
      <p:sp>
        <p:nvSpPr>
          <p:cNvPr id="6" name="Rectangle 5">
            <a:extLst>
              <a:ext uri="{FF2B5EF4-FFF2-40B4-BE49-F238E27FC236}">
                <a16:creationId xmlns:a16="http://schemas.microsoft.com/office/drawing/2014/main" id="{39557CFC-96FF-3E31-972B-B38FB9E2D15F}"/>
              </a:ext>
            </a:extLst>
          </p:cNvPr>
          <p:cNvSpPr/>
          <p:nvPr/>
        </p:nvSpPr>
        <p:spPr>
          <a:xfrm>
            <a:off x="8746067" y="3972109"/>
            <a:ext cx="1430866" cy="143809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endParaRPr>
          </a:p>
        </p:txBody>
      </p:sp>
      <p:sp>
        <p:nvSpPr>
          <p:cNvPr id="4" name="Slide Number Placeholder 3">
            <a:extLst>
              <a:ext uri="{FF2B5EF4-FFF2-40B4-BE49-F238E27FC236}">
                <a16:creationId xmlns:a16="http://schemas.microsoft.com/office/drawing/2014/main" id="{AF35F986-F17B-7745-C7F9-142632571473}"/>
              </a:ext>
            </a:extLst>
          </p:cNvPr>
          <p:cNvSpPr>
            <a:spLocks noGrp="1"/>
          </p:cNvSpPr>
          <p:nvPr>
            <p:ph type="sldNum" sz="quarter" idx="12"/>
          </p:nvPr>
        </p:nvSpPr>
        <p:spPr/>
        <p:txBody>
          <a:bodyPr/>
          <a:lstStyle/>
          <a:p>
            <a:r>
              <a:rPr lang="en-IN" dirty="0"/>
              <a:t>16</a:t>
            </a:r>
          </a:p>
        </p:txBody>
      </p:sp>
    </p:spTree>
    <p:extLst>
      <p:ext uri="{BB962C8B-B14F-4D97-AF65-F5344CB8AC3E}">
        <p14:creationId xmlns:p14="http://schemas.microsoft.com/office/powerpoint/2010/main" val="231176580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F60101-443A-58BC-763C-80CF2FB0E20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2F321EA-A6ED-8EF8-48B6-63C06F381CD6}"/>
              </a:ext>
            </a:extLst>
          </p:cNvPr>
          <p:cNvSpPr>
            <a:spLocks noGrp="1"/>
          </p:cNvSpPr>
          <p:nvPr>
            <p:ph type="title"/>
          </p:nvPr>
        </p:nvSpPr>
        <p:spPr/>
        <p:txBody>
          <a:bodyPr>
            <a:normAutofit/>
          </a:bodyPr>
          <a:lstStyle/>
          <a:p>
            <a:r>
              <a:rPr lang="en-US" sz="3200" b="1" dirty="0"/>
              <a:t>LILO (2024): The Best of Both Worlds</a:t>
            </a:r>
            <a:endParaRPr lang="en-IN" sz="3200" b="1" dirty="0"/>
          </a:p>
        </p:txBody>
      </p:sp>
      <p:sp>
        <p:nvSpPr>
          <p:cNvPr id="3" name="Content Placeholder 2">
            <a:extLst>
              <a:ext uri="{FF2B5EF4-FFF2-40B4-BE49-F238E27FC236}">
                <a16:creationId xmlns:a16="http://schemas.microsoft.com/office/drawing/2014/main" id="{C2B540A5-FBF8-31A1-149C-F544A71B2E11}"/>
              </a:ext>
            </a:extLst>
          </p:cNvPr>
          <p:cNvSpPr>
            <a:spLocks noGrp="1"/>
          </p:cNvSpPr>
          <p:nvPr>
            <p:ph idx="1"/>
          </p:nvPr>
        </p:nvSpPr>
        <p:spPr>
          <a:xfrm>
            <a:off x="838201" y="1508167"/>
            <a:ext cx="5990112" cy="4607626"/>
          </a:xfrm>
        </p:spPr>
        <p:txBody>
          <a:bodyPr>
            <a:noAutofit/>
          </a:bodyPr>
          <a:lstStyle/>
          <a:p>
            <a:pPr marL="0" indent="0">
              <a:buNone/>
            </a:pPr>
            <a:r>
              <a:rPr lang="en-US" sz="1800" b="1" dirty="0"/>
              <a:t>Problem:</a:t>
            </a:r>
            <a:endParaRPr lang="en-US" sz="1800" dirty="0"/>
          </a:p>
          <a:p>
            <a:r>
              <a:rPr lang="en-US" sz="1800" dirty="0" err="1"/>
              <a:t>DreamCoder</a:t>
            </a:r>
            <a:r>
              <a:rPr lang="en-US" sz="1800" dirty="0"/>
              <a:t>: powerful library learning but enumerative search is slow</a:t>
            </a:r>
          </a:p>
          <a:p>
            <a:r>
              <a:rPr lang="en-US" sz="1800" dirty="0"/>
              <a:t>Codex: fast generation but no accumulated knowledge, no correctness</a:t>
            </a:r>
          </a:p>
          <a:p>
            <a:r>
              <a:rPr lang="en-US" sz="1800" dirty="0"/>
              <a:t>Can we get LLM speed without giving up classical structure?</a:t>
            </a:r>
          </a:p>
          <a:p>
            <a:pPr marL="0" indent="0">
              <a:buNone/>
            </a:pPr>
            <a:r>
              <a:rPr lang="en-US" sz="1800" b="1" dirty="0"/>
              <a:t>Solution:</a:t>
            </a:r>
            <a:endParaRPr lang="en-US" sz="1800" dirty="0"/>
          </a:p>
          <a:p>
            <a:r>
              <a:rPr lang="en-US" sz="1800" dirty="0"/>
              <a:t>Replaces enumerative search in wake phase with LLM-guided synthesis</a:t>
            </a:r>
          </a:p>
          <a:p>
            <a:r>
              <a:rPr lang="en-US" sz="1800" dirty="0"/>
              <a:t>Sleep phase keeps </a:t>
            </a:r>
            <a:r>
              <a:rPr lang="en-US" sz="1800" dirty="0" err="1"/>
              <a:t>DreamCoder's</a:t>
            </a:r>
            <a:r>
              <a:rPr lang="en-US" sz="1800" dirty="0"/>
              <a:t> compression and abstraction unchanged</a:t>
            </a:r>
          </a:p>
          <a:p>
            <a:r>
              <a:rPr lang="en-US" sz="1800" dirty="0"/>
              <a:t>LLM generates candidates fast, classical machinery verifies and compresses</a:t>
            </a:r>
          </a:p>
          <a:p>
            <a:r>
              <a:rPr lang="en-US" sz="1800" dirty="0"/>
              <a:t>Novel addition: auto-documentation generates readable names for learned functions</a:t>
            </a:r>
          </a:p>
          <a:p>
            <a:pPr marL="0" indent="0">
              <a:buNone/>
            </a:pPr>
            <a:endParaRPr lang="en-IN" sz="2000" dirty="0"/>
          </a:p>
        </p:txBody>
      </p:sp>
      <p:pic>
        <p:nvPicPr>
          <p:cNvPr id="5" name="Picture 4">
            <a:extLst>
              <a:ext uri="{FF2B5EF4-FFF2-40B4-BE49-F238E27FC236}">
                <a16:creationId xmlns:a16="http://schemas.microsoft.com/office/drawing/2014/main" id="{45024C4C-BDA7-636B-C695-9D117CACB887}"/>
              </a:ext>
            </a:extLst>
          </p:cNvPr>
          <p:cNvPicPr>
            <a:picLocks noChangeAspect="1"/>
          </p:cNvPicPr>
          <p:nvPr/>
        </p:nvPicPr>
        <p:blipFill>
          <a:blip r:embed="rId3"/>
          <a:stretch>
            <a:fillRect/>
          </a:stretch>
        </p:blipFill>
        <p:spPr>
          <a:xfrm>
            <a:off x="7049757" y="2144784"/>
            <a:ext cx="4813692" cy="3334391"/>
          </a:xfrm>
          <a:prstGeom prst="rect">
            <a:avLst/>
          </a:prstGeom>
        </p:spPr>
      </p:pic>
      <p:sp>
        <p:nvSpPr>
          <p:cNvPr id="6" name="Rectangle 5">
            <a:extLst>
              <a:ext uri="{FF2B5EF4-FFF2-40B4-BE49-F238E27FC236}">
                <a16:creationId xmlns:a16="http://schemas.microsoft.com/office/drawing/2014/main" id="{EC885DA9-CE33-5081-2B08-F14BBCB104FA}"/>
              </a:ext>
            </a:extLst>
          </p:cNvPr>
          <p:cNvSpPr/>
          <p:nvPr/>
        </p:nvSpPr>
        <p:spPr>
          <a:xfrm>
            <a:off x="7049757" y="4004733"/>
            <a:ext cx="1560843" cy="1474442"/>
          </a:xfrm>
          <a:prstGeom prst="rect">
            <a:avLst/>
          </a:prstGeom>
          <a:noFill/>
          <a:ln w="38100">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solidFill>
                <a:srgbClr val="00B050"/>
              </a:solidFill>
            </a:endParaRPr>
          </a:p>
        </p:txBody>
      </p:sp>
      <p:sp>
        <p:nvSpPr>
          <p:cNvPr id="4" name="Slide Number Placeholder 3">
            <a:extLst>
              <a:ext uri="{FF2B5EF4-FFF2-40B4-BE49-F238E27FC236}">
                <a16:creationId xmlns:a16="http://schemas.microsoft.com/office/drawing/2014/main" id="{33FE07D3-4B81-92DD-141B-152E4F08B2EA}"/>
              </a:ext>
            </a:extLst>
          </p:cNvPr>
          <p:cNvSpPr>
            <a:spLocks noGrp="1"/>
          </p:cNvSpPr>
          <p:nvPr>
            <p:ph type="sldNum" sz="quarter" idx="12"/>
          </p:nvPr>
        </p:nvSpPr>
        <p:spPr/>
        <p:txBody>
          <a:bodyPr/>
          <a:lstStyle/>
          <a:p>
            <a:r>
              <a:rPr lang="en-IN" dirty="0"/>
              <a:t>16</a:t>
            </a:r>
          </a:p>
        </p:txBody>
      </p:sp>
    </p:spTree>
    <p:extLst>
      <p:ext uri="{BB962C8B-B14F-4D97-AF65-F5344CB8AC3E}">
        <p14:creationId xmlns:p14="http://schemas.microsoft.com/office/powerpoint/2010/main" val="184183312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906E2A-BC23-546C-D981-B4B5BC022BD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6AC4497-A7BE-EE63-B66C-F541C29B48CF}"/>
              </a:ext>
            </a:extLst>
          </p:cNvPr>
          <p:cNvSpPr>
            <a:spLocks noGrp="1"/>
          </p:cNvSpPr>
          <p:nvPr>
            <p:ph type="title"/>
          </p:nvPr>
        </p:nvSpPr>
        <p:spPr/>
        <p:txBody>
          <a:bodyPr>
            <a:normAutofit/>
          </a:bodyPr>
          <a:lstStyle/>
          <a:p>
            <a:r>
              <a:rPr lang="en-IN" sz="3200" b="1" dirty="0"/>
              <a:t>LILO: The Auto-Documentation Insight</a:t>
            </a:r>
          </a:p>
        </p:txBody>
      </p:sp>
      <p:sp>
        <p:nvSpPr>
          <p:cNvPr id="3" name="Content Placeholder 2">
            <a:extLst>
              <a:ext uri="{FF2B5EF4-FFF2-40B4-BE49-F238E27FC236}">
                <a16:creationId xmlns:a16="http://schemas.microsoft.com/office/drawing/2014/main" id="{20C26C31-7EE9-338A-6519-E5B38EE15BD2}"/>
              </a:ext>
            </a:extLst>
          </p:cNvPr>
          <p:cNvSpPr>
            <a:spLocks noGrp="1"/>
          </p:cNvSpPr>
          <p:nvPr>
            <p:ph idx="1"/>
          </p:nvPr>
        </p:nvSpPr>
        <p:spPr>
          <a:xfrm>
            <a:off x="838200" y="1508166"/>
            <a:ext cx="10811494" cy="4984709"/>
          </a:xfrm>
        </p:spPr>
        <p:txBody>
          <a:bodyPr>
            <a:noAutofit/>
          </a:bodyPr>
          <a:lstStyle/>
          <a:p>
            <a:pPr marL="0" indent="0">
              <a:buNone/>
            </a:pPr>
            <a:r>
              <a:rPr lang="en-IN" sz="2000" b="1" dirty="0"/>
              <a:t>The surprising finding:</a:t>
            </a:r>
            <a:endParaRPr lang="en-IN" sz="2000" dirty="0"/>
          </a:p>
          <a:p>
            <a:pPr lvl="0"/>
            <a:r>
              <a:rPr lang="en-IN" sz="2000" dirty="0"/>
              <a:t>Giving LLM unnamed compressed abstractions actually hurt performance</a:t>
            </a:r>
          </a:p>
          <a:p>
            <a:pPr lvl="0"/>
            <a:r>
              <a:rPr lang="en-IN" sz="2000" dirty="0"/>
              <a:t>Without auto-documentation: solve rates dropped 30+ points on REGEX domain</a:t>
            </a:r>
          </a:p>
          <a:p>
            <a:pPr lvl="0"/>
            <a:r>
              <a:rPr lang="en-IN" sz="2000" dirty="0"/>
              <a:t>With auto-documentation: LLM generates readable names and docstrings for learned functions</a:t>
            </a:r>
          </a:p>
          <a:p>
            <a:pPr lvl="0"/>
            <a:r>
              <a:rPr lang="en-IN" sz="2000" dirty="0"/>
              <a:t>LLM reuses functions it can understand semantically, ignores ones it cannot</a:t>
            </a:r>
          </a:p>
          <a:p>
            <a:pPr lvl="0"/>
            <a:endParaRPr lang="en-IN" sz="2000" dirty="0"/>
          </a:p>
          <a:p>
            <a:pPr marL="0" indent="0">
              <a:buNone/>
            </a:pPr>
            <a:r>
              <a:rPr lang="en-IN" sz="2000" b="1" dirty="0"/>
              <a:t>Example:</a:t>
            </a:r>
            <a:endParaRPr lang="en-IN" sz="2000" dirty="0"/>
          </a:p>
          <a:p>
            <a:pPr lvl="0"/>
            <a:r>
              <a:rPr lang="en-IN" sz="2000" dirty="0"/>
              <a:t>Without doc: fn_42 = (λ f. (λ z. (+ z z)))</a:t>
            </a:r>
          </a:p>
          <a:p>
            <a:pPr lvl="0"/>
            <a:r>
              <a:rPr lang="en-IN" sz="2000" dirty="0"/>
              <a:t>With doc: double = (λ f. (λ z. (+ z z))) : "Returns twice the input"</a:t>
            </a:r>
          </a:p>
          <a:p>
            <a:pPr marL="0" indent="0">
              <a:buNone/>
            </a:pPr>
            <a:endParaRPr lang="en-IN" sz="2000" dirty="0"/>
          </a:p>
        </p:txBody>
      </p:sp>
      <p:sp>
        <p:nvSpPr>
          <p:cNvPr id="4" name="Slide Number Placeholder 3">
            <a:extLst>
              <a:ext uri="{FF2B5EF4-FFF2-40B4-BE49-F238E27FC236}">
                <a16:creationId xmlns:a16="http://schemas.microsoft.com/office/drawing/2014/main" id="{E41F8B46-6975-1372-00FC-F2DE80D9F97B}"/>
              </a:ext>
            </a:extLst>
          </p:cNvPr>
          <p:cNvSpPr>
            <a:spLocks noGrp="1"/>
          </p:cNvSpPr>
          <p:nvPr>
            <p:ph type="sldNum" sz="quarter" idx="12"/>
          </p:nvPr>
        </p:nvSpPr>
        <p:spPr/>
        <p:txBody>
          <a:bodyPr/>
          <a:lstStyle/>
          <a:p>
            <a:r>
              <a:rPr lang="en-IN" dirty="0"/>
              <a:t>17</a:t>
            </a:r>
          </a:p>
        </p:txBody>
      </p:sp>
      <p:sp>
        <p:nvSpPr>
          <p:cNvPr id="5" name="Rectangle 4">
            <a:extLst>
              <a:ext uri="{FF2B5EF4-FFF2-40B4-BE49-F238E27FC236}">
                <a16:creationId xmlns:a16="http://schemas.microsoft.com/office/drawing/2014/main" id="{0A33931F-2A93-964E-F4B9-95332BD41A39}"/>
              </a:ext>
            </a:extLst>
          </p:cNvPr>
          <p:cNvSpPr/>
          <p:nvPr/>
        </p:nvSpPr>
        <p:spPr>
          <a:xfrm>
            <a:off x="2556933" y="4351867"/>
            <a:ext cx="626534" cy="2794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6" name="Rectangle 5">
            <a:extLst>
              <a:ext uri="{FF2B5EF4-FFF2-40B4-BE49-F238E27FC236}">
                <a16:creationId xmlns:a16="http://schemas.microsoft.com/office/drawing/2014/main" id="{DDC7DB1A-21AC-C6D2-C964-05CE61FA7BBA}"/>
              </a:ext>
            </a:extLst>
          </p:cNvPr>
          <p:cNvSpPr/>
          <p:nvPr/>
        </p:nvSpPr>
        <p:spPr>
          <a:xfrm>
            <a:off x="2192867" y="4749800"/>
            <a:ext cx="736600" cy="279400"/>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7" name="Rectangle 6">
            <a:extLst>
              <a:ext uri="{FF2B5EF4-FFF2-40B4-BE49-F238E27FC236}">
                <a16:creationId xmlns:a16="http://schemas.microsoft.com/office/drawing/2014/main" id="{423CBA04-27A2-6720-93E5-DFA7AFD26D80}"/>
              </a:ext>
            </a:extLst>
          </p:cNvPr>
          <p:cNvSpPr/>
          <p:nvPr/>
        </p:nvSpPr>
        <p:spPr>
          <a:xfrm>
            <a:off x="5012267" y="4749800"/>
            <a:ext cx="2658533" cy="347133"/>
          </a:xfrm>
          <a:prstGeom prst="rect">
            <a:avLst/>
          </a:prstGeom>
          <a:noFill/>
          <a:ln w="2857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32724619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7"/>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6" grpId="0" animBg="1"/>
      <p:bldP spid="7" grpId="0" animBg="1"/>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BDF785-C868-DF30-5246-FF21E57B18D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C11C255-25A5-DF02-D23A-AFFB15E7EB7E}"/>
              </a:ext>
            </a:extLst>
          </p:cNvPr>
          <p:cNvSpPr>
            <a:spLocks noGrp="1"/>
          </p:cNvSpPr>
          <p:nvPr>
            <p:ph type="title"/>
          </p:nvPr>
        </p:nvSpPr>
        <p:spPr/>
        <p:txBody>
          <a:bodyPr>
            <a:normAutofit/>
          </a:bodyPr>
          <a:lstStyle/>
          <a:p>
            <a:r>
              <a:rPr lang="en-IN" sz="3200" b="1" dirty="0"/>
              <a:t>LILO: Results + Limitations</a:t>
            </a:r>
          </a:p>
        </p:txBody>
      </p:sp>
      <p:sp>
        <p:nvSpPr>
          <p:cNvPr id="3" name="Content Placeholder 2">
            <a:extLst>
              <a:ext uri="{FF2B5EF4-FFF2-40B4-BE49-F238E27FC236}">
                <a16:creationId xmlns:a16="http://schemas.microsoft.com/office/drawing/2014/main" id="{4D20B955-6B71-F3CD-AC83-EE62F2BA3BB1}"/>
              </a:ext>
            </a:extLst>
          </p:cNvPr>
          <p:cNvSpPr>
            <a:spLocks noGrp="1"/>
          </p:cNvSpPr>
          <p:nvPr>
            <p:ph idx="1"/>
          </p:nvPr>
        </p:nvSpPr>
        <p:spPr>
          <a:xfrm>
            <a:off x="838200" y="1508166"/>
            <a:ext cx="10811494" cy="4984709"/>
          </a:xfrm>
        </p:spPr>
        <p:txBody>
          <a:bodyPr>
            <a:noAutofit/>
          </a:bodyPr>
          <a:lstStyle/>
          <a:p>
            <a:pPr marL="0" indent="0">
              <a:buNone/>
            </a:pPr>
            <a:r>
              <a:rPr lang="en-IN" sz="2000" b="1" dirty="0"/>
              <a:t>Results:</a:t>
            </a:r>
            <a:endParaRPr lang="en-IN" sz="2000" dirty="0"/>
          </a:p>
          <a:p>
            <a:pPr lvl="0"/>
            <a:r>
              <a:rPr lang="en-IN" sz="2000" dirty="0"/>
              <a:t>Outperformed </a:t>
            </a:r>
            <a:r>
              <a:rPr lang="en-IN" sz="2000" dirty="0" err="1"/>
              <a:t>DreamCoder</a:t>
            </a:r>
            <a:r>
              <a:rPr lang="en-IN" sz="2000" dirty="0"/>
              <a:t> by 33.14 points on REGEX</a:t>
            </a:r>
          </a:p>
          <a:p>
            <a:pPr lvl="0"/>
            <a:r>
              <a:rPr lang="en-IN" sz="2000" dirty="0"/>
              <a:t>Outperformed </a:t>
            </a:r>
            <a:r>
              <a:rPr lang="en-IN" sz="2000" dirty="0" err="1"/>
              <a:t>DreamCoder</a:t>
            </a:r>
            <a:r>
              <a:rPr lang="en-IN" sz="2000" dirty="0"/>
              <a:t> by 20.42 points on LOGO</a:t>
            </a:r>
          </a:p>
          <a:p>
            <a:pPr lvl="0"/>
            <a:r>
              <a:rPr lang="en-IN" sz="2000" dirty="0"/>
              <a:t>Outperformed </a:t>
            </a:r>
            <a:r>
              <a:rPr lang="en-IN" sz="2000" dirty="0" err="1"/>
              <a:t>DreamCoder</a:t>
            </a:r>
            <a:r>
              <a:rPr lang="en-IN" sz="2000" dirty="0"/>
              <a:t> by 2.26 points on CLEVR (where </a:t>
            </a:r>
            <a:r>
              <a:rPr lang="en-IN" sz="2000" dirty="0" err="1"/>
              <a:t>DreamCoder</a:t>
            </a:r>
            <a:r>
              <a:rPr lang="en-IN" sz="2000" dirty="0"/>
              <a:t> was already at 94.5%)</a:t>
            </a:r>
          </a:p>
          <a:p>
            <a:pPr lvl="0"/>
            <a:r>
              <a:rPr lang="en-IN" sz="2000" dirty="0"/>
              <a:t>Improved over LLM-only baselines by up to 16.82 points on LOGO</a:t>
            </a:r>
          </a:p>
          <a:p>
            <a:pPr marL="0" lvl="0" indent="0">
              <a:buNone/>
            </a:pPr>
            <a:endParaRPr lang="en-IN" sz="2000" dirty="0"/>
          </a:p>
          <a:p>
            <a:pPr marL="0" lvl="0" indent="0">
              <a:buNone/>
            </a:pPr>
            <a:endParaRPr lang="en-IN" sz="2000" dirty="0"/>
          </a:p>
          <a:p>
            <a:pPr marL="0" lvl="0" indent="0">
              <a:buNone/>
            </a:pPr>
            <a:endParaRPr lang="en-IN" sz="2000" dirty="0"/>
          </a:p>
          <a:p>
            <a:pPr marL="0" lvl="0" indent="0">
              <a:buNone/>
            </a:pPr>
            <a:endParaRPr lang="en-IN" sz="2000" dirty="0"/>
          </a:p>
          <a:p>
            <a:pPr marL="0" indent="0">
              <a:buNone/>
            </a:pPr>
            <a:r>
              <a:rPr lang="en-IN" sz="2000" b="1" dirty="0"/>
              <a:t>Limitations:</a:t>
            </a:r>
            <a:endParaRPr lang="en-IN" sz="2000" dirty="0"/>
          </a:p>
          <a:p>
            <a:pPr lvl="0"/>
            <a:r>
              <a:rPr lang="en-IN" sz="2000" dirty="0"/>
              <a:t>Still requires hand-designed domain primitives to initialize library</a:t>
            </a:r>
          </a:p>
          <a:p>
            <a:pPr lvl="0"/>
            <a:r>
              <a:rPr lang="en-IN" sz="2000" dirty="0"/>
              <a:t>Cannot bootstrap from scratch in a genuinely new domain</a:t>
            </a:r>
          </a:p>
          <a:p>
            <a:pPr lvl="0"/>
            <a:r>
              <a:rPr lang="en-IN" sz="2000" dirty="0"/>
              <a:t>Depends on capable LLM, introduces cost and latency at scale</a:t>
            </a:r>
          </a:p>
          <a:p>
            <a:pPr marL="0" indent="0">
              <a:buNone/>
            </a:pPr>
            <a:endParaRPr lang="en-IN" sz="2000" dirty="0"/>
          </a:p>
        </p:txBody>
      </p:sp>
      <p:pic>
        <p:nvPicPr>
          <p:cNvPr id="6" name="Picture 5">
            <a:extLst>
              <a:ext uri="{FF2B5EF4-FFF2-40B4-BE49-F238E27FC236}">
                <a16:creationId xmlns:a16="http://schemas.microsoft.com/office/drawing/2014/main" id="{D9A6A0C4-87D1-0564-42FB-BA398A0723B1}"/>
              </a:ext>
            </a:extLst>
          </p:cNvPr>
          <p:cNvPicPr>
            <a:picLocks noChangeAspect="1"/>
          </p:cNvPicPr>
          <p:nvPr/>
        </p:nvPicPr>
        <p:blipFill>
          <a:blip r:embed="rId3"/>
          <a:stretch>
            <a:fillRect/>
          </a:stretch>
        </p:blipFill>
        <p:spPr>
          <a:xfrm>
            <a:off x="2814781" y="3467173"/>
            <a:ext cx="6911110" cy="1882661"/>
          </a:xfrm>
          <a:prstGeom prst="rect">
            <a:avLst/>
          </a:prstGeom>
        </p:spPr>
      </p:pic>
      <p:sp>
        <p:nvSpPr>
          <p:cNvPr id="7" name="Slide Number Placeholder 6">
            <a:extLst>
              <a:ext uri="{FF2B5EF4-FFF2-40B4-BE49-F238E27FC236}">
                <a16:creationId xmlns:a16="http://schemas.microsoft.com/office/drawing/2014/main" id="{BDD8F398-0D78-C3A3-1A77-1D6E00B72383}"/>
              </a:ext>
            </a:extLst>
          </p:cNvPr>
          <p:cNvSpPr>
            <a:spLocks noGrp="1"/>
          </p:cNvSpPr>
          <p:nvPr>
            <p:ph type="sldNum" sz="quarter" idx="12"/>
          </p:nvPr>
        </p:nvSpPr>
        <p:spPr/>
        <p:txBody>
          <a:bodyPr/>
          <a:lstStyle/>
          <a:p>
            <a:r>
              <a:rPr lang="en-IN" dirty="0"/>
              <a:t>18</a:t>
            </a:r>
          </a:p>
        </p:txBody>
      </p:sp>
    </p:spTree>
    <p:extLst>
      <p:ext uri="{BB962C8B-B14F-4D97-AF65-F5344CB8AC3E}">
        <p14:creationId xmlns:p14="http://schemas.microsoft.com/office/powerpoint/2010/main" val="370293415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7C54ED-4864-ADC2-4EA2-D3714950FA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492741-1F7F-E6FE-E54C-1963EB99805B}"/>
              </a:ext>
            </a:extLst>
          </p:cNvPr>
          <p:cNvSpPr>
            <a:spLocks noGrp="1"/>
          </p:cNvSpPr>
          <p:nvPr>
            <p:ph type="title"/>
          </p:nvPr>
        </p:nvSpPr>
        <p:spPr/>
        <p:txBody>
          <a:bodyPr>
            <a:normAutofit/>
          </a:bodyPr>
          <a:lstStyle/>
          <a:p>
            <a:r>
              <a:rPr lang="en-US" sz="3200" b="1" dirty="0"/>
              <a:t>Open Problems: Where Does the Field Go Next?</a:t>
            </a:r>
            <a:endParaRPr lang="en-IN" sz="3200" b="1" dirty="0"/>
          </a:p>
        </p:txBody>
      </p:sp>
      <p:sp>
        <p:nvSpPr>
          <p:cNvPr id="3" name="Content Placeholder 2">
            <a:extLst>
              <a:ext uri="{FF2B5EF4-FFF2-40B4-BE49-F238E27FC236}">
                <a16:creationId xmlns:a16="http://schemas.microsoft.com/office/drawing/2014/main" id="{0EEDAB9E-2D3A-9345-2416-FD47BE00109C}"/>
              </a:ext>
            </a:extLst>
          </p:cNvPr>
          <p:cNvSpPr>
            <a:spLocks noGrp="1"/>
          </p:cNvSpPr>
          <p:nvPr>
            <p:ph idx="1"/>
          </p:nvPr>
        </p:nvSpPr>
        <p:spPr>
          <a:xfrm>
            <a:off x="838200" y="1508166"/>
            <a:ext cx="10811494" cy="4984709"/>
          </a:xfrm>
        </p:spPr>
        <p:txBody>
          <a:bodyPr>
            <a:noAutofit/>
          </a:bodyPr>
          <a:lstStyle/>
          <a:p>
            <a:pPr lvl="0"/>
            <a:r>
              <a:rPr lang="en-IN" sz="1800" dirty="0"/>
              <a:t>Classical synthesis: correct but only works in narrow domains with hand-designed DSLs </a:t>
            </a:r>
          </a:p>
          <a:p>
            <a:pPr lvl="0"/>
            <a:r>
              <a:rPr lang="en-IN" sz="1800" dirty="0"/>
              <a:t>Neural synthesis: flexible and fast but fails silently with no formal guarantees </a:t>
            </a:r>
          </a:p>
          <a:p>
            <a:pPr lvl="0"/>
            <a:r>
              <a:rPr lang="en-IN" sz="1800" dirty="0"/>
              <a:t>Neurosymbolic synthesis: promising but expensive and only tested on three domains </a:t>
            </a:r>
          </a:p>
          <a:p>
            <a:pPr lvl="0"/>
            <a:endParaRPr lang="en-IN" sz="1800" dirty="0"/>
          </a:p>
          <a:p>
            <a:pPr lvl="0"/>
            <a:r>
              <a:rPr lang="en-IN" sz="1800" dirty="0"/>
              <a:t>How do you handle genuinely ambiguous intent? </a:t>
            </a:r>
          </a:p>
          <a:p>
            <a:pPr lvl="0"/>
            <a:r>
              <a:rPr lang="en-IN" sz="1800" dirty="0"/>
              <a:t>How do you build tools non-experts can actually trust? </a:t>
            </a:r>
          </a:p>
          <a:p>
            <a:pPr lvl="0"/>
            <a:r>
              <a:rPr lang="en-IN" sz="1800" dirty="0"/>
              <a:t>Can formal guarantees survive as systems get more neural? </a:t>
            </a:r>
          </a:p>
          <a:p>
            <a:pPr lvl="0"/>
            <a:r>
              <a:rPr lang="en-IN" sz="1800" dirty="0"/>
              <a:t>Can we build a general synthesizer without a hand-designed DSL? </a:t>
            </a:r>
          </a:p>
          <a:p>
            <a:pPr marL="0" lvl="0" indent="0">
              <a:buNone/>
            </a:pPr>
            <a:endParaRPr lang="en-IN" sz="1800" dirty="0"/>
          </a:p>
          <a:p>
            <a:pPr lvl="0"/>
            <a:r>
              <a:rPr lang="en-IN" sz="1800" dirty="0"/>
              <a:t>Recent work: hybrid LLM plus formal synthesis approaches now solving 80% of benchmarks — but a truly general solution is still out of reach</a:t>
            </a:r>
          </a:p>
          <a:p>
            <a:pPr marL="0" indent="0">
              <a:buNone/>
            </a:pPr>
            <a:endParaRPr lang="en-IN" sz="1800" dirty="0"/>
          </a:p>
        </p:txBody>
      </p:sp>
      <p:sp>
        <p:nvSpPr>
          <p:cNvPr id="6" name="Slide Number Placeholder 5">
            <a:extLst>
              <a:ext uri="{FF2B5EF4-FFF2-40B4-BE49-F238E27FC236}">
                <a16:creationId xmlns:a16="http://schemas.microsoft.com/office/drawing/2014/main" id="{F4FC9127-6E7B-2CD8-E85C-2A17629198BE}"/>
              </a:ext>
            </a:extLst>
          </p:cNvPr>
          <p:cNvSpPr>
            <a:spLocks noGrp="1"/>
          </p:cNvSpPr>
          <p:nvPr>
            <p:ph type="sldNum" sz="quarter" idx="12"/>
          </p:nvPr>
        </p:nvSpPr>
        <p:spPr/>
        <p:txBody>
          <a:bodyPr/>
          <a:lstStyle/>
          <a:p>
            <a:r>
              <a:rPr lang="en-IN" dirty="0"/>
              <a:t>19</a:t>
            </a:r>
          </a:p>
        </p:txBody>
      </p:sp>
    </p:spTree>
    <p:extLst>
      <p:ext uri="{BB962C8B-B14F-4D97-AF65-F5344CB8AC3E}">
        <p14:creationId xmlns:p14="http://schemas.microsoft.com/office/powerpoint/2010/main" val="275459596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8CD6A4-00E1-F803-4BCB-BA7B77E9FC4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044D515-45D1-0D65-FE11-CEA69D02A4B8}"/>
              </a:ext>
            </a:extLst>
          </p:cNvPr>
          <p:cNvSpPr>
            <a:spLocks noGrp="1"/>
          </p:cNvSpPr>
          <p:nvPr>
            <p:ph type="title"/>
          </p:nvPr>
        </p:nvSpPr>
        <p:spPr/>
        <p:txBody>
          <a:bodyPr>
            <a:normAutofit/>
          </a:bodyPr>
          <a:lstStyle/>
          <a:p>
            <a:r>
              <a:rPr lang="en-IN" sz="3200" b="1" dirty="0"/>
              <a:t>Conclusion</a:t>
            </a:r>
          </a:p>
        </p:txBody>
      </p:sp>
      <p:sp>
        <p:nvSpPr>
          <p:cNvPr id="3" name="Content Placeholder 2">
            <a:extLst>
              <a:ext uri="{FF2B5EF4-FFF2-40B4-BE49-F238E27FC236}">
                <a16:creationId xmlns:a16="http://schemas.microsoft.com/office/drawing/2014/main" id="{19805C21-FCCE-4B8D-489D-A0AC3AE9BD38}"/>
              </a:ext>
            </a:extLst>
          </p:cNvPr>
          <p:cNvSpPr>
            <a:spLocks noGrp="1"/>
          </p:cNvSpPr>
          <p:nvPr>
            <p:ph idx="1"/>
          </p:nvPr>
        </p:nvSpPr>
        <p:spPr>
          <a:xfrm>
            <a:off x="838200" y="1508166"/>
            <a:ext cx="10811494" cy="4984709"/>
          </a:xfrm>
        </p:spPr>
        <p:txBody>
          <a:bodyPr>
            <a:noAutofit/>
          </a:bodyPr>
          <a:lstStyle/>
          <a:p>
            <a:pPr lvl="0"/>
            <a:r>
              <a:rPr lang="en-IN" sz="1800" dirty="0"/>
              <a:t>Classical methods: solved correctness, not generality</a:t>
            </a:r>
          </a:p>
          <a:p>
            <a:pPr lvl="0"/>
            <a:r>
              <a:rPr lang="en-IN" sz="1800" dirty="0"/>
              <a:t>Neural methods: solved generality, not correctness</a:t>
            </a:r>
          </a:p>
          <a:p>
            <a:pPr lvl="0"/>
            <a:r>
              <a:rPr lang="en-IN" sz="1800" dirty="0"/>
              <a:t>Neurosymbolic methods: the attempt to solve both</a:t>
            </a:r>
          </a:p>
          <a:p>
            <a:pPr lvl="0"/>
            <a:r>
              <a:rPr lang="en-IN" sz="1800" dirty="0"/>
              <a:t>SKETCH made synthesis domain-agnostic</a:t>
            </a:r>
          </a:p>
          <a:p>
            <a:pPr lvl="0"/>
            <a:r>
              <a:rPr lang="en-IN" sz="1800" dirty="0" err="1"/>
              <a:t>FlashFill</a:t>
            </a:r>
            <a:r>
              <a:rPr lang="en-IN" sz="1800" dirty="0"/>
              <a:t> made it practical for real users</a:t>
            </a:r>
          </a:p>
          <a:p>
            <a:pPr lvl="0"/>
            <a:r>
              <a:rPr lang="en-IN" sz="1800" dirty="0"/>
              <a:t>Survey mapped the landscape and identified the gap</a:t>
            </a:r>
          </a:p>
          <a:p>
            <a:pPr lvl="0"/>
            <a:r>
              <a:rPr lang="en-IN" sz="1800" dirty="0" err="1"/>
              <a:t>DreamCoder</a:t>
            </a:r>
            <a:r>
              <a:rPr lang="en-IN" sz="1800" dirty="0"/>
              <a:t> made it cumulative</a:t>
            </a:r>
          </a:p>
          <a:p>
            <a:pPr lvl="0"/>
            <a:r>
              <a:rPr lang="en-IN" sz="1800" dirty="0"/>
              <a:t>Codex made it fast but unverified</a:t>
            </a:r>
          </a:p>
          <a:p>
            <a:pPr lvl="0"/>
            <a:r>
              <a:rPr lang="en-IN" sz="1800" dirty="0"/>
              <a:t>LILO combined both, best results so far</a:t>
            </a:r>
          </a:p>
          <a:p>
            <a:pPr lvl="0"/>
            <a:r>
              <a:rPr lang="en-IN" sz="1800" dirty="0"/>
              <a:t>Progress: from synthesizing AES in an hour (2006) to GitHub Copilot (2021) in twenty years</a:t>
            </a:r>
          </a:p>
          <a:p>
            <a:pPr lvl="0"/>
            <a:r>
              <a:rPr lang="en-IN" sz="1800" dirty="0"/>
              <a:t>What remains: a general synthesis system that works anywhere without hand-engineering does not exist yet</a:t>
            </a:r>
          </a:p>
          <a:p>
            <a:pPr marL="0" lvl="0" indent="0">
              <a:buNone/>
            </a:pPr>
            <a:endParaRPr lang="en-IN" sz="1800" dirty="0"/>
          </a:p>
          <a:p>
            <a:pPr marL="0" indent="0">
              <a:buNone/>
            </a:pPr>
            <a:r>
              <a:rPr lang="en-IN" sz="1800" dirty="0"/>
              <a:t>Can computers write programs for us? The field is closer than ever. But it is not there yet.</a:t>
            </a:r>
          </a:p>
          <a:p>
            <a:pPr marL="0" indent="0">
              <a:buNone/>
            </a:pPr>
            <a:endParaRPr lang="en-IN" sz="2000" dirty="0"/>
          </a:p>
        </p:txBody>
      </p:sp>
      <p:sp>
        <p:nvSpPr>
          <p:cNvPr id="4" name="Slide Number Placeholder 3">
            <a:extLst>
              <a:ext uri="{FF2B5EF4-FFF2-40B4-BE49-F238E27FC236}">
                <a16:creationId xmlns:a16="http://schemas.microsoft.com/office/drawing/2014/main" id="{1BD6069E-385C-0742-DE82-9288A3E926C2}"/>
              </a:ext>
            </a:extLst>
          </p:cNvPr>
          <p:cNvSpPr>
            <a:spLocks noGrp="1"/>
          </p:cNvSpPr>
          <p:nvPr>
            <p:ph type="sldNum" sz="quarter" idx="12"/>
          </p:nvPr>
        </p:nvSpPr>
        <p:spPr/>
        <p:txBody>
          <a:bodyPr/>
          <a:lstStyle/>
          <a:p>
            <a:r>
              <a:rPr lang="en-IN" dirty="0"/>
              <a:t>20</a:t>
            </a:r>
          </a:p>
        </p:txBody>
      </p:sp>
    </p:spTree>
    <p:extLst>
      <p:ext uri="{BB962C8B-B14F-4D97-AF65-F5344CB8AC3E}">
        <p14:creationId xmlns:p14="http://schemas.microsoft.com/office/powerpoint/2010/main" val="179943553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E8ECB0-881A-776A-C2E7-7F7B6AAF71A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2A1E921-4FA1-8A63-2B15-0736E911C5B2}"/>
              </a:ext>
            </a:extLst>
          </p:cNvPr>
          <p:cNvSpPr>
            <a:spLocks noGrp="1"/>
          </p:cNvSpPr>
          <p:nvPr>
            <p:ph type="title"/>
          </p:nvPr>
        </p:nvSpPr>
        <p:spPr/>
        <p:txBody>
          <a:bodyPr>
            <a:normAutofit/>
          </a:bodyPr>
          <a:lstStyle/>
          <a:p>
            <a:r>
              <a:rPr lang="en-IN" sz="3200" b="1" dirty="0"/>
              <a:t>References</a:t>
            </a:r>
          </a:p>
        </p:txBody>
      </p:sp>
      <p:sp>
        <p:nvSpPr>
          <p:cNvPr id="3" name="Content Placeholder 2">
            <a:extLst>
              <a:ext uri="{FF2B5EF4-FFF2-40B4-BE49-F238E27FC236}">
                <a16:creationId xmlns:a16="http://schemas.microsoft.com/office/drawing/2014/main" id="{AC5CE2F1-DFE6-08DF-6198-FC721BE7E0AE}"/>
              </a:ext>
            </a:extLst>
          </p:cNvPr>
          <p:cNvSpPr>
            <a:spLocks noGrp="1"/>
          </p:cNvSpPr>
          <p:nvPr>
            <p:ph idx="1"/>
          </p:nvPr>
        </p:nvSpPr>
        <p:spPr>
          <a:xfrm>
            <a:off x="838200" y="1508166"/>
            <a:ext cx="10811494" cy="4984709"/>
          </a:xfrm>
        </p:spPr>
        <p:txBody>
          <a:bodyPr>
            <a:noAutofit/>
          </a:bodyPr>
          <a:lstStyle/>
          <a:p>
            <a:r>
              <a:rPr lang="en-IN" sz="2000" dirty="0"/>
              <a:t>[1] M. Chen et al. "Evaluating Large Language Models Trained on Code." arXiv:2107.03374, 2021.</a:t>
            </a:r>
          </a:p>
          <a:p>
            <a:r>
              <a:rPr lang="en-IN" sz="2000" dirty="0"/>
              <a:t>[2] K. Ellis et al. "</a:t>
            </a:r>
            <a:r>
              <a:rPr lang="en-IN" sz="2000" dirty="0" err="1"/>
              <a:t>DreamCoder</a:t>
            </a:r>
            <a:r>
              <a:rPr lang="en-IN" sz="2000" dirty="0"/>
              <a:t>: Bootstrapping Inductive Program Synthesis with Wake-Sleep Library Learning." PLDI, 2021.</a:t>
            </a:r>
          </a:p>
          <a:p>
            <a:r>
              <a:rPr lang="en-IN" sz="2000" dirty="0"/>
              <a:t>[3] G. Grand et al. "LILO: Learning Interpretable Libraries by Compressing and Documenting Code." ICLR, 2024.</a:t>
            </a:r>
          </a:p>
          <a:p>
            <a:r>
              <a:rPr lang="en-IN" sz="2000" dirty="0"/>
              <a:t>[4] S. </a:t>
            </a:r>
            <a:r>
              <a:rPr lang="en-IN" sz="2000" dirty="0" err="1"/>
              <a:t>Gulwani</a:t>
            </a:r>
            <a:r>
              <a:rPr lang="en-IN" sz="2000" dirty="0"/>
              <a:t>. "Automating String Processing in Spreadsheets Using Input-Output Examples." POPL, 2011.</a:t>
            </a:r>
          </a:p>
          <a:p>
            <a:r>
              <a:rPr lang="en-IN" sz="2000" dirty="0"/>
              <a:t>[5] S. </a:t>
            </a:r>
            <a:r>
              <a:rPr lang="en-IN" sz="2000" dirty="0" err="1"/>
              <a:t>Gulwani</a:t>
            </a:r>
            <a:r>
              <a:rPr lang="en-IN" sz="2000" dirty="0"/>
              <a:t>, O. </a:t>
            </a:r>
            <a:r>
              <a:rPr lang="en-IN" sz="2000" dirty="0" err="1"/>
              <a:t>Polozov</a:t>
            </a:r>
            <a:r>
              <a:rPr lang="en-IN" sz="2000" dirty="0"/>
              <a:t>, R. Singh. "Program Synthesis." Foundations and Trends in Programming Languages, 2017.</a:t>
            </a:r>
          </a:p>
          <a:p>
            <a:r>
              <a:rPr lang="en-IN" sz="2000" dirty="0"/>
              <a:t>[6] A. Solar-Lezama et al. "Combinatorial Sketching for Finite Programs." ASPLOS, 2006.</a:t>
            </a:r>
          </a:p>
          <a:p>
            <a:pPr marL="0" indent="0">
              <a:buNone/>
            </a:pPr>
            <a:endParaRPr lang="en-IN" sz="2000" dirty="0"/>
          </a:p>
        </p:txBody>
      </p:sp>
      <p:sp>
        <p:nvSpPr>
          <p:cNvPr id="4" name="Slide Number Placeholder 3">
            <a:extLst>
              <a:ext uri="{FF2B5EF4-FFF2-40B4-BE49-F238E27FC236}">
                <a16:creationId xmlns:a16="http://schemas.microsoft.com/office/drawing/2014/main" id="{DCEACA64-E981-D364-6013-DBE03E5CA304}"/>
              </a:ext>
            </a:extLst>
          </p:cNvPr>
          <p:cNvSpPr>
            <a:spLocks noGrp="1"/>
          </p:cNvSpPr>
          <p:nvPr>
            <p:ph type="sldNum" sz="quarter" idx="12"/>
          </p:nvPr>
        </p:nvSpPr>
        <p:spPr/>
        <p:txBody>
          <a:bodyPr/>
          <a:lstStyle/>
          <a:p>
            <a:r>
              <a:rPr lang="en-IN" dirty="0"/>
              <a:t>20</a:t>
            </a:r>
          </a:p>
        </p:txBody>
      </p:sp>
    </p:spTree>
    <p:extLst>
      <p:ext uri="{BB962C8B-B14F-4D97-AF65-F5344CB8AC3E}">
        <p14:creationId xmlns:p14="http://schemas.microsoft.com/office/powerpoint/2010/main" val="43640420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827B5-BC79-F3C6-F374-3A5D9962AA0E}"/>
              </a:ext>
            </a:extLst>
          </p:cNvPr>
          <p:cNvSpPr>
            <a:spLocks noGrp="1"/>
          </p:cNvSpPr>
          <p:nvPr>
            <p:ph type="title"/>
          </p:nvPr>
        </p:nvSpPr>
        <p:spPr>
          <a:xfrm>
            <a:off x="4310743" y="2644193"/>
            <a:ext cx="4643252" cy="1569614"/>
          </a:xfrm>
        </p:spPr>
        <p:txBody>
          <a:bodyPr>
            <a:noAutofit/>
          </a:bodyPr>
          <a:lstStyle/>
          <a:p>
            <a:pPr algn="ctr"/>
            <a:r>
              <a:rPr lang="en-IN" sz="3600" dirty="0"/>
              <a:t>Thank You!</a:t>
            </a:r>
            <a:br>
              <a:rPr lang="en-IN" sz="3600" dirty="0"/>
            </a:br>
            <a:br>
              <a:rPr lang="en-IN" sz="3600" dirty="0"/>
            </a:br>
            <a:r>
              <a:rPr lang="en-IN" sz="3600" dirty="0"/>
              <a:t>Questions?</a:t>
            </a:r>
          </a:p>
        </p:txBody>
      </p:sp>
    </p:spTree>
    <p:extLst>
      <p:ext uri="{BB962C8B-B14F-4D97-AF65-F5344CB8AC3E}">
        <p14:creationId xmlns:p14="http://schemas.microsoft.com/office/powerpoint/2010/main" val="233667190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2142</TotalTime>
  <Words>6310</Words>
  <Application>Microsoft Office PowerPoint</Application>
  <PresentationFormat>Widescreen</PresentationFormat>
  <Paragraphs>532</Paragraphs>
  <Slides>26</Slides>
  <Notes>25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26</vt:i4>
      </vt:variant>
    </vt:vector>
  </HeadingPairs>
  <TitlesOfParts>
    <vt:vector size="30" baseType="lpstr">
      <vt:lpstr>Arial</vt:lpstr>
      <vt:lpstr>Calibri</vt:lpstr>
      <vt:lpstr>Calibri Light</vt:lpstr>
      <vt:lpstr>Office Theme</vt:lpstr>
      <vt:lpstr>Neurosymbolic Program Synthesis:  From Enumerative Search to LLM-Guided Methods</vt:lpstr>
      <vt:lpstr>What is Program Synthesis?</vt:lpstr>
      <vt:lpstr>Why Is It Hard?</vt:lpstr>
      <vt:lpstr>Why Does It Matter?</vt:lpstr>
      <vt:lpstr>Roadmap</vt:lpstr>
      <vt:lpstr>SKETCH (2006): Synthesis Without Domain Rules</vt:lpstr>
      <vt:lpstr>SKETCH: Evaluation + Limitations</vt:lpstr>
      <vt:lpstr>FlashFill: Synthesis for Real Users</vt:lpstr>
      <vt:lpstr>Survey (2017): Mapping the Landscape</vt:lpstr>
      <vt:lpstr>DreamCoder (2021): Synthesis That Learns</vt:lpstr>
      <vt:lpstr>DreamCoder: The Wake-Sleep Algorithm</vt:lpstr>
      <vt:lpstr>DreamCoder: Results</vt:lpstr>
      <vt:lpstr>DreamCoder: Limitations and What Comes Next</vt:lpstr>
      <vt:lpstr>Codex (2021): When LLMs Entered the Picture</vt:lpstr>
      <vt:lpstr>Codex: Evaluation + Limitations</vt:lpstr>
      <vt:lpstr>LILO (2024): The Best of Both Worlds</vt:lpstr>
      <vt:lpstr>LILO (2024): The Best of Both Worlds</vt:lpstr>
      <vt:lpstr>LILO (2024): The Best of Both Worlds</vt:lpstr>
      <vt:lpstr>LILO (2024): The Best of Both Worlds</vt:lpstr>
      <vt:lpstr>LILO (2024): The Best of Both Worlds</vt:lpstr>
      <vt:lpstr>LILO: The Auto-Documentation Insight</vt:lpstr>
      <vt:lpstr>LILO: Results + Limitations</vt:lpstr>
      <vt:lpstr>Open Problems: Where Does the Field Go Next?</vt:lpstr>
      <vt:lpstr>Conclusion</vt:lpstr>
      <vt:lpstr>References</vt:lpstr>
      <vt:lpstr>Thank You!  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Vanshika Singla</dc:creator>
  <cp:lastModifiedBy>Vanshika Singla</cp:lastModifiedBy>
  <cp:revision>6</cp:revision>
  <dcterms:created xsi:type="dcterms:W3CDTF">2026-04-12T13:19:05Z</dcterms:created>
  <dcterms:modified xsi:type="dcterms:W3CDTF">2026-04-14T01:04:14Z</dcterms:modified>
</cp:coreProperties>
</file>